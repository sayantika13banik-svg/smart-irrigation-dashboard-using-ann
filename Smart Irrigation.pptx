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Helvetica World" panose="020B0604020202020204" charset="-128"/>
      <p:regular r:id="rId14"/>
    </p:embeddedFont>
    <p:embeddedFont>
      <p:font typeface="Helvetica World Bold" panose="020B0604020202020204" charset="-128"/>
      <p:regular r:id="rId15"/>
    </p:embeddedFont>
    <p:embeddedFont>
      <p:font typeface="Garet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A3A4A"/>
        </a:solidFill>
        <a:effectLst/>
      </p:bgPr>
    </p:bg>
    <p:spTree>
      <p:nvGrpSpPr>
        <p:cNvPr id="1" name=""/>
        <p:cNvGrpSpPr/>
        <p:nvPr/>
      </p:nvGrpSpPr>
      <p:grpSpPr>
        <a:xfrm>
          <a:off x="0" y="0"/>
          <a:ext cx="0" cy="0"/>
          <a:chOff x="0" y="0"/>
          <a:chExt cx="0" cy="0"/>
        </a:xfrm>
      </p:grpSpPr>
      <p:grpSp>
        <p:nvGrpSpPr>
          <p:cNvPr id="5" name="Group 5"/>
          <p:cNvGrpSpPr>
            <a:grpSpLocks noChangeAspect="1"/>
          </p:cNvGrpSpPr>
          <p:nvPr/>
        </p:nvGrpSpPr>
        <p:grpSpPr>
          <a:xfrm rot="5400000">
            <a:off x="9296383" y="1330628"/>
            <a:ext cx="8302229" cy="8302196"/>
            <a:chOff x="0" y="0"/>
            <a:chExt cx="6350000" cy="6349975"/>
          </a:xfrm>
        </p:grpSpPr>
        <p:sp>
          <p:nvSpPr>
            <p:cNvPr id="6" name="Freeform 6"/>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87A0C3"/>
            </a:solidFill>
            <a:ln w="12700">
              <a:solidFill>
                <a:srgbClr val="000000"/>
              </a:solidFill>
            </a:ln>
          </p:spPr>
        </p:sp>
      </p:grpSp>
      <p:grpSp>
        <p:nvGrpSpPr>
          <p:cNvPr id="7" name="Group 7"/>
          <p:cNvGrpSpPr/>
          <p:nvPr/>
        </p:nvGrpSpPr>
        <p:grpSpPr>
          <a:xfrm>
            <a:off x="10018413" y="2052641"/>
            <a:ext cx="6872372" cy="6872372"/>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6666" r="-16666"/>
              </a:stretch>
            </a:blipFill>
          </p:spPr>
        </p:sp>
      </p:grpSp>
      <p:sp>
        <p:nvSpPr>
          <p:cNvPr id="9" name="TextBox 9"/>
          <p:cNvSpPr txBox="1"/>
          <p:nvPr/>
        </p:nvSpPr>
        <p:spPr>
          <a:xfrm>
            <a:off x="600524" y="2216471"/>
            <a:ext cx="8324850" cy="3655067"/>
          </a:xfrm>
          <a:prstGeom prst="rect">
            <a:avLst/>
          </a:prstGeom>
        </p:spPr>
        <p:txBody>
          <a:bodyPr lIns="0" tIns="0" rIns="0" bIns="0" rtlCol="0" anchor="t">
            <a:spAutoFit/>
          </a:bodyPr>
          <a:lstStyle/>
          <a:p>
            <a:pPr marL="0" lvl="0" indent="0" algn="ctr">
              <a:lnSpc>
                <a:spcPts val="7370"/>
              </a:lnSpc>
            </a:pPr>
            <a:r>
              <a:rPr lang="en-US" sz="6700" b="1" spc="-167">
                <a:solidFill>
                  <a:srgbClr val="D1D9E6"/>
                </a:solidFill>
                <a:latin typeface="Garet Bold"/>
                <a:ea typeface="Garet Bold"/>
                <a:cs typeface="Garet Bold"/>
                <a:sym typeface="Garet Bold"/>
              </a:rPr>
              <a:t>Smart Irrigation </a:t>
            </a:r>
          </a:p>
          <a:p>
            <a:pPr marL="0" lvl="0" indent="0" algn="ctr">
              <a:lnSpc>
                <a:spcPts val="7370"/>
              </a:lnSpc>
            </a:pPr>
            <a:r>
              <a:rPr lang="en-US" sz="6700" b="1" spc="-167">
                <a:solidFill>
                  <a:srgbClr val="D1D9E6"/>
                </a:solidFill>
                <a:latin typeface="Garet Bold"/>
                <a:ea typeface="Garet Bold"/>
                <a:cs typeface="Garet Bold"/>
                <a:sym typeface="Garet Bold"/>
              </a:rPr>
              <a:t>&amp; </a:t>
            </a:r>
          </a:p>
          <a:p>
            <a:pPr marL="0" lvl="0" indent="0" algn="ctr">
              <a:lnSpc>
                <a:spcPts val="7040"/>
              </a:lnSpc>
            </a:pPr>
            <a:r>
              <a:rPr lang="en-US" sz="6400" b="1" spc="-160">
                <a:solidFill>
                  <a:srgbClr val="D1D9E6"/>
                </a:solidFill>
                <a:latin typeface="Garet Bold"/>
                <a:ea typeface="Garet Bold"/>
                <a:cs typeface="Garet Bold"/>
                <a:sym typeface="Garet Bold"/>
              </a:rPr>
              <a:t>Water Conservation System</a:t>
            </a:r>
          </a:p>
        </p:txBody>
      </p:sp>
      <p:sp>
        <p:nvSpPr>
          <p:cNvPr id="10" name="TextBox 10"/>
          <p:cNvSpPr txBox="1"/>
          <p:nvPr/>
        </p:nvSpPr>
        <p:spPr>
          <a:xfrm>
            <a:off x="600524" y="7013458"/>
            <a:ext cx="8543476" cy="1064260"/>
          </a:xfrm>
          <a:prstGeom prst="rect">
            <a:avLst/>
          </a:prstGeom>
        </p:spPr>
        <p:txBody>
          <a:bodyPr lIns="0" tIns="0" rIns="0" bIns="0" rtlCol="0" anchor="t">
            <a:spAutoFit/>
          </a:bodyPr>
          <a:lstStyle/>
          <a:p>
            <a:pPr algn="l">
              <a:lnSpc>
                <a:spcPts val="4339"/>
              </a:lnSpc>
              <a:spcBef>
                <a:spcPct val="0"/>
              </a:spcBef>
            </a:pPr>
            <a:r>
              <a:rPr lang="en-US" sz="3099">
                <a:solidFill>
                  <a:srgbClr val="D1D9E6"/>
                </a:solidFill>
                <a:latin typeface="Helvetica World"/>
                <a:ea typeface="Helvetica World"/>
                <a:cs typeface="Helvetica World"/>
                <a:sym typeface="Helvetica World"/>
              </a:rPr>
              <a:t>Presented by Sayantika Banik, Tanvi Pardeshi and Shreya Deshpande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A3A4A"/>
        </a:solidFill>
        <a:effectLst/>
      </p:bgPr>
    </p:bg>
    <p:spTree>
      <p:nvGrpSpPr>
        <p:cNvPr id="1" name=""/>
        <p:cNvGrpSpPr/>
        <p:nvPr/>
      </p:nvGrpSpPr>
      <p:grpSpPr>
        <a:xfrm>
          <a:off x="0" y="0"/>
          <a:ext cx="0" cy="0"/>
          <a:chOff x="0" y="0"/>
          <a:chExt cx="0" cy="0"/>
        </a:xfrm>
      </p:grpSpPr>
      <p:grpSp>
        <p:nvGrpSpPr>
          <p:cNvPr id="5" name="Group 5"/>
          <p:cNvGrpSpPr/>
          <p:nvPr/>
        </p:nvGrpSpPr>
        <p:grpSpPr>
          <a:xfrm>
            <a:off x="9296400" y="1028700"/>
            <a:ext cx="7909182" cy="8214228"/>
            <a:chOff x="0" y="0"/>
            <a:chExt cx="10545576" cy="10952304"/>
          </a:xfrm>
        </p:grpSpPr>
        <p:sp>
          <p:nvSpPr>
            <p:cNvPr id="6" name="TextBox 6"/>
            <p:cNvSpPr txBox="1"/>
            <p:nvPr/>
          </p:nvSpPr>
          <p:spPr>
            <a:xfrm>
              <a:off x="0" y="66675"/>
              <a:ext cx="10545576" cy="1513893"/>
            </a:xfrm>
            <a:prstGeom prst="rect">
              <a:avLst/>
            </a:prstGeom>
          </p:spPr>
          <p:txBody>
            <a:bodyPr lIns="0" tIns="0" rIns="0" bIns="0" rtlCol="0" anchor="t">
              <a:spAutoFit/>
            </a:bodyPr>
            <a:lstStyle/>
            <a:p>
              <a:pPr marL="0" lvl="0" indent="0" algn="l">
                <a:lnSpc>
                  <a:spcPts val="8624"/>
                </a:lnSpc>
              </a:pPr>
              <a:r>
                <a:rPr lang="en-US" sz="7840" b="1" spc="-196">
                  <a:solidFill>
                    <a:srgbClr val="D1D9E6"/>
                  </a:solidFill>
                  <a:latin typeface="Garet Bold"/>
                  <a:ea typeface="Garet Bold"/>
                  <a:cs typeface="Garet Bold"/>
                  <a:sym typeface="Garet Bold"/>
                </a:rPr>
                <a:t>Introduction</a:t>
              </a:r>
            </a:p>
          </p:txBody>
        </p:sp>
        <p:sp>
          <p:nvSpPr>
            <p:cNvPr id="7" name="TextBox 7"/>
            <p:cNvSpPr txBox="1"/>
            <p:nvPr/>
          </p:nvSpPr>
          <p:spPr>
            <a:xfrm>
              <a:off x="0" y="2440414"/>
              <a:ext cx="10545576" cy="8511889"/>
            </a:xfrm>
            <a:prstGeom prst="rect">
              <a:avLst/>
            </a:prstGeom>
          </p:spPr>
          <p:txBody>
            <a:bodyPr lIns="0" tIns="0" rIns="0" bIns="0" rtlCol="0" anchor="t">
              <a:spAutoFit/>
            </a:bodyPr>
            <a:lstStyle/>
            <a:p>
              <a:pPr marL="656546" lvl="1" indent="-328273" algn="l">
                <a:lnSpc>
                  <a:spcPts val="4257"/>
                </a:lnSpc>
                <a:buFont typeface="Arial"/>
                <a:buChar char="•"/>
              </a:pPr>
              <a:r>
                <a:rPr lang="en-US" sz="3040">
                  <a:solidFill>
                    <a:srgbClr val="D1D9E6"/>
                  </a:solidFill>
                  <a:latin typeface="Helvetica World"/>
                  <a:ea typeface="Helvetica World"/>
                  <a:cs typeface="Helvetica World"/>
                  <a:sym typeface="Helvetica World"/>
                </a:rPr>
                <a:t>Agriculture consumes ~70% of the world’s freshwater.</a:t>
              </a:r>
            </a:p>
            <a:p>
              <a:pPr marL="656546" lvl="1" indent="-328273" algn="l">
                <a:lnSpc>
                  <a:spcPts val="4257"/>
                </a:lnSpc>
                <a:buFont typeface="Arial"/>
                <a:buChar char="•"/>
              </a:pPr>
              <a:r>
                <a:rPr lang="en-US" sz="3040">
                  <a:solidFill>
                    <a:srgbClr val="D1D9E6"/>
                  </a:solidFill>
                  <a:latin typeface="Helvetica World"/>
                  <a:ea typeface="Helvetica World"/>
                  <a:cs typeface="Helvetica World"/>
                  <a:sym typeface="Helvetica World"/>
                </a:rPr>
                <a:t>Traditional irrigation methods waste water due to fixed timing and lack of adaptability.</a:t>
              </a:r>
            </a:p>
            <a:p>
              <a:pPr marL="656546" lvl="1" indent="-328273" algn="l">
                <a:lnSpc>
                  <a:spcPts val="4257"/>
                </a:lnSpc>
                <a:buFont typeface="Arial"/>
                <a:buChar char="•"/>
              </a:pPr>
              <a:r>
                <a:rPr lang="en-US" sz="3040">
                  <a:solidFill>
                    <a:srgbClr val="D1D9E6"/>
                  </a:solidFill>
                  <a:latin typeface="Helvetica World"/>
                  <a:ea typeface="Helvetica World"/>
                  <a:cs typeface="Helvetica World"/>
                  <a:sym typeface="Helvetica World"/>
                </a:rPr>
                <a:t>There is a growing need for data-driven, automated irrigation systems.</a:t>
              </a:r>
            </a:p>
            <a:p>
              <a:pPr marL="656546" lvl="1" indent="-328273" algn="l">
                <a:lnSpc>
                  <a:spcPts val="4257"/>
                </a:lnSpc>
                <a:buFont typeface="Arial"/>
                <a:buChar char="•"/>
              </a:pPr>
              <a:r>
                <a:rPr lang="en-US" sz="3040">
                  <a:solidFill>
                    <a:srgbClr val="D1D9E6"/>
                  </a:solidFill>
                  <a:latin typeface="Helvetica World"/>
                  <a:ea typeface="Helvetica World"/>
                  <a:cs typeface="Helvetica World"/>
                  <a:sym typeface="Helvetica World"/>
                </a:rPr>
                <a:t>The system uses IoT sensors, Artificial Neural Network (ANN), and Fuzzy Logic for intelligent decision-making.</a:t>
              </a:r>
            </a:p>
            <a:p>
              <a:pPr marL="656546" lvl="1" indent="-328273" algn="l">
                <a:lnSpc>
                  <a:spcPts val="4257"/>
                </a:lnSpc>
                <a:buFont typeface="Arial"/>
                <a:buChar char="•"/>
              </a:pPr>
              <a:r>
                <a:rPr lang="en-US" sz="3040">
                  <a:solidFill>
                    <a:srgbClr val="D1D9E6"/>
                  </a:solidFill>
                  <a:latin typeface="Helvetica World"/>
                  <a:ea typeface="Helvetica World"/>
                  <a:cs typeface="Helvetica World"/>
                  <a:sym typeface="Helvetica World"/>
                </a:rPr>
                <a:t>Goal: To ensure optimal irrigation, water conservation, and sustainable farming.</a:t>
              </a:r>
            </a:p>
            <a:p>
              <a:pPr marL="0" lvl="0" indent="0" algn="l">
                <a:lnSpc>
                  <a:spcPts val="4257"/>
                </a:lnSpc>
              </a:pPr>
              <a:endParaRPr lang="en-US" sz="3040">
                <a:solidFill>
                  <a:srgbClr val="D1D9E6"/>
                </a:solidFill>
                <a:latin typeface="Helvetica World"/>
                <a:ea typeface="Helvetica World"/>
                <a:cs typeface="Helvetica World"/>
                <a:sym typeface="Helvetica World"/>
              </a:endParaRPr>
            </a:p>
          </p:txBody>
        </p:sp>
      </p:grpSp>
      <p:grpSp>
        <p:nvGrpSpPr>
          <p:cNvPr id="8" name="Group 8"/>
          <p:cNvGrpSpPr/>
          <p:nvPr/>
        </p:nvGrpSpPr>
        <p:grpSpPr>
          <a:xfrm>
            <a:off x="-39072" y="1318054"/>
            <a:ext cx="8302229" cy="8302196"/>
            <a:chOff x="0" y="0"/>
            <a:chExt cx="11069639" cy="11069594"/>
          </a:xfrm>
        </p:grpSpPr>
        <p:grpSp>
          <p:nvGrpSpPr>
            <p:cNvPr id="9" name="Group 9"/>
            <p:cNvGrpSpPr>
              <a:grpSpLocks noChangeAspect="1"/>
            </p:cNvGrpSpPr>
            <p:nvPr/>
          </p:nvGrpSpPr>
          <p:grpSpPr>
            <a:xfrm>
              <a:off x="0" y="0"/>
              <a:ext cx="11069639" cy="11069594"/>
              <a:chOff x="0" y="0"/>
              <a:chExt cx="6350000" cy="6349975"/>
            </a:xfrm>
          </p:grpSpPr>
          <p:sp>
            <p:nvSpPr>
              <p:cNvPr id="10" name="Freeform 1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D1D9E6"/>
              </a:solidFill>
              <a:ln w="12700">
                <a:solidFill>
                  <a:srgbClr val="000000"/>
                </a:solidFill>
              </a:ln>
            </p:spPr>
          </p:sp>
        </p:grpSp>
        <p:grpSp>
          <p:nvGrpSpPr>
            <p:cNvPr id="11" name="Group 11"/>
            <p:cNvGrpSpPr/>
            <p:nvPr/>
          </p:nvGrpSpPr>
          <p:grpSpPr>
            <a:xfrm>
              <a:off x="943769" y="943747"/>
              <a:ext cx="9182100" cy="918210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A3A4A"/>
        </a:solidFill>
        <a:effectLst/>
      </p:bgPr>
    </p:bg>
    <p:spTree>
      <p:nvGrpSpPr>
        <p:cNvPr id="1" name=""/>
        <p:cNvGrpSpPr/>
        <p:nvPr/>
      </p:nvGrpSpPr>
      <p:grpSpPr>
        <a:xfrm>
          <a:off x="0" y="0"/>
          <a:ext cx="0" cy="0"/>
          <a:chOff x="0" y="0"/>
          <a:chExt cx="0" cy="0"/>
        </a:xfrm>
      </p:grpSpPr>
      <p:sp>
        <p:nvSpPr>
          <p:cNvPr id="2" name="TextBox 2"/>
          <p:cNvSpPr txBox="1"/>
          <p:nvPr/>
        </p:nvSpPr>
        <p:spPr>
          <a:xfrm>
            <a:off x="666750" y="742950"/>
            <a:ext cx="14077950" cy="1077595"/>
          </a:xfrm>
          <a:prstGeom prst="rect">
            <a:avLst/>
          </a:prstGeom>
        </p:spPr>
        <p:txBody>
          <a:bodyPr lIns="0" tIns="0" rIns="0" bIns="0" rtlCol="0" anchor="t">
            <a:spAutoFit/>
          </a:bodyPr>
          <a:lstStyle/>
          <a:p>
            <a:pPr marL="0" lvl="0" indent="0" algn="l">
              <a:lnSpc>
                <a:spcPts val="8359"/>
              </a:lnSpc>
            </a:pPr>
            <a:r>
              <a:rPr lang="en-US" sz="7599" b="1" spc="-189">
                <a:solidFill>
                  <a:srgbClr val="D1D9E6"/>
                </a:solidFill>
                <a:latin typeface="Garet Bold"/>
                <a:ea typeface="Garet Bold"/>
                <a:cs typeface="Garet Bold"/>
                <a:sym typeface="Garet Bold"/>
              </a:rPr>
              <a:t>Problem Statement</a:t>
            </a:r>
          </a:p>
        </p:txBody>
      </p:sp>
      <p:sp>
        <p:nvSpPr>
          <p:cNvPr id="3" name="TextBox 3"/>
          <p:cNvSpPr txBox="1"/>
          <p:nvPr/>
        </p:nvSpPr>
        <p:spPr>
          <a:xfrm>
            <a:off x="1028700" y="2821288"/>
            <a:ext cx="16230600" cy="5171099"/>
          </a:xfrm>
          <a:prstGeom prst="rect">
            <a:avLst/>
          </a:prstGeom>
        </p:spPr>
        <p:txBody>
          <a:bodyPr lIns="0" tIns="0" rIns="0" bIns="0" rtlCol="0" anchor="t">
            <a:spAutoFit/>
          </a:bodyPr>
          <a:lstStyle/>
          <a:p>
            <a:pPr marL="851428" lvl="1" indent="-425714" algn="l">
              <a:lnSpc>
                <a:spcPts val="5521"/>
              </a:lnSpc>
              <a:buFont typeface="Arial"/>
              <a:buChar char="•"/>
            </a:pPr>
            <a:r>
              <a:rPr lang="en-US" sz="3943" b="1">
                <a:solidFill>
                  <a:srgbClr val="D1D9E6"/>
                </a:solidFill>
                <a:latin typeface="Helvetica World Bold"/>
                <a:ea typeface="Helvetica World Bold"/>
                <a:cs typeface="Helvetica World Bold"/>
                <a:sym typeface="Helvetica World Bold"/>
              </a:rPr>
              <a:t>Manual irrigation leads to overwatering or under-watering.</a:t>
            </a:r>
          </a:p>
          <a:p>
            <a:pPr marL="851428" lvl="1" indent="-425714" algn="l">
              <a:lnSpc>
                <a:spcPts val="5521"/>
              </a:lnSpc>
              <a:buFont typeface="Arial"/>
              <a:buChar char="•"/>
            </a:pPr>
            <a:r>
              <a:rPr lang="en-US" sz="3943" b="1">
                <a:solidFill>
                  <a:srgbClr val="D1D9E6"/>
                </a:solidFill>
                <a:latin typeface="Helvetica World Bold"/>
                <a:ea typeface="Helvetica World Bold"/>
                <a:cs typeface="Helvetica World Bold"/>
                <a:sym typeface="Helvetica World Bold"/>
              </a:rPr>
              <a:t>Systems fail to consider real-time soil and weather variations.</a:t>
            </a:r>
          </a:p>
          <a:p>
            <a:pPr marL="851428" lvl="1" indent="-425714" algn="l">
              <a:lnSpc>
                <a:spcPts val="5521"/>
              </a:lnSpc>
              <a:buFont typeface="Arial"/>
              <a:buChar char="•"/>
            </a:pPr>
            <a:r>
              <a:rPr lang="en-US" sz="3943" b="1">
                <a:solidFill>
                  <a:srgbClr val="D1D9E6"/>
                </a:solidFill>
                <a:latin typeface="Helvetica World Bold"/>
                <a:ea typeface="Helvetica World Bold"/>
                <a:cs typeface="Helvetica World Bold"/>
                <a:sym typeface="Helvetica World Bold"/>
              </a:rPr>
              <a:t>Excess water use causes soil erosion and power wastage.</a:t>
            </a:r>
          </a:p>
          <a:p>
            <a:pPr marL="851428" lvl="1" indent="-425714" algn="l">
              <a:lnSpc>
                <a:spcPts val="5521"/>
              </a:lnSpc>
              <a:buFont typeface="Arial"/>
              <a:buChar char="•"/>
            </a:pPr>
            <a:r>
              <a:rPr lang="en-US" sz="3943" b="1">
                <a:solidFill>
                  <a:srgbClr val="D1D9E6"/>
                </a:solidFill>
                <a:latin typeface="Helvetica World Bold"/>
                <a:ea typeface="Helvetica World Bold"/>
                <a:cs typeface="Helvetica World Bold"/>
                <a:sym typeface="Helvetica World Bold"/>
              </a:rPr>
              <a:t>Farmers lack automation and continuous monitoring tools.</a:t>
            </a:r>
          </a:p>
          <a:p>
            <a:pPr marL="851428" lvl="1" indent="-425714" algn="l">
              <a:lnSpc>
                <a:spcPts val="5521"/>
              </a:lnSpc>
              <a:buFont typeface="Arial"/>
              <a:buChar char="•"/>
            </a:pPr>
            <a:r>
              <a:rPr lang="en-US" sz="3943" b="1">
                <a:solidFill>
                  <a:srgbClr val="D1D9E6"/>
                </a:solidFill>
                <a:latin typeface="Helvetica World Bold"/>
                <a:ea typeface="Helvetica World Bold"/>
                <a:cs typeface="Helvetica World Bold"/>
                <a:sym typeface="Helvetica World Bold"/>
              </a:rPr>
              <a:t>Hence, a Smart Irrigation System is proposed for precise, automated water management.</a:t>
            </a:r>
          </a:p>
          <a:p>
            <a:pPr algn="l">
              <a:lnSpc>
                <a:spcPts val="5521"/>
              </a:lnSpc>
            </a:pPr>
            <a:endParaRPr lang="en-US" sz="3943" b="1">
              <a:solidFill>
                <a:srgbClr val="D1D9E6"/>
              </a:solidFill>
              <a:latin typeface="Helvetica World Bold"/>
              <a:ea typeface="Helvetica World Bold"/>
              <a:cs typeface="Helvetica World Bold"/>
              <a:sym typeface="Helvetica World Bold"/>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A3A4A"/>
        </a:solidFill>
        <a:effectLst/>
      </p:bgPr>
    </p:bg>
    <p:spTree>
      <p:nvGrpSpPr>
        <p:cNvPr id="1" name=""/>
        <p:cNvGrpSpPr/>
        <p:nvPr/>
      </p:nvGrpSpPr>
      <p:grpSpPr>
        <a:xfrm>
          <a:off x="0" y="0"/>
          <a:ext cx="0" cy="0"/>
          <a:chOff x="0" y="0"/>
          <a:chExt cx="0" cy="0"/>
        </a:xfrm>
      </p:grpSpPr>
      <p:sp>
        <p:nvSpPr>
          <p:cNvPr id="2" name="TextBox 2"/>
          <p:cNvSpPr txBox="1"/>
          <p:nvPr/>
        </p:nvSpPr>
        <p:spPr>
          <a:xfrm>
            <a:off x="666750" y="742950"/>
            <a:ext cx="14077950" cy="1077595"/>
          </a:xfrm>
          <a:prstGeom prst="rect">
            <a:avLst/>
          </a:prstGeom>
        </p:spPr>
        <p:txBody>
          <a:bodyPr lIns="0" tIns="0" rIns="0" bIns="0" rtlCol="0" anchor="t">
            <a:spAutoFit/>
          </a:bodyPr>
          <a:lstStyle/>
          <a:p>
            <a:pPr marL="0" lvl="0" indent="0" algn="l">
              <a:lnSpc>
                <a:spcPts val="8359"/>
              </a:lnSpc>
            </a:pPr>
            <a:r>
              <a:rPr lang="en-US" sz="7599" b="1" spc="-189">
                <a:solidFill>
                  <a:srgbClr val="D1D9E6"/>
                </a:solidFill>
                <a:latin typeface="Garet Bold"/>
                <a:ea typeface="Garet Bold"/>
                <a:cs typeface="Garet Bold"/>
                <a:sym typeface="Garet Bold"/>
              </a:rPr>
              <a:t> Literature Survey</a:t>
            </a:r>
          </a:p>
        </p:txBody>
      </p:sp>
      <p:grpSp>
        <p:nvGrpSpPr>
          <p:cNvPr id="3" name="Group 3"/>
          <p:cNvGrpSpPr/>
          <p:nvPr/>
        </p:nvGrpSpPr>
        <p:grpSpPr>
          <a:xfrm>
            <a:off x="1028700" y="1993381"/>
            <a:ext cx="16230600" cy="7910460"/>
            <a:chOff x="0" y="-47625"/>
            <a:chExt cx="21640800" cy="10547277"/>
          </a:xfrm>
        </p:grpSpPr>
        <p:sp>
          <p:nvSpPr>
            <p:cNvPr id="4" name="TextBox 4"/>
            <p:cNvSpPr txBox="1"/>
            <p:nvPr/>
          </p:nvSpPr>
          <p:spPr>
            <a:xfrm>
              <a:off x="0" y="650804"/>
              <a:ext cx="21640800" cy="9848848"/>
            </a:xfrm>
            <a:prstGeom prst="rect">
              <a:avLst/>
            </a:prstGeom>
          </p:spPr>
          <p:txBody>
            <a:bodyPr lIns="0" tIns="0" rIns="0" bIns="0" rtlCol="0" anchor="t">
              <a:spAutoFit/>
            </a:bodyPr>
            <a:lstStyle/>
            <a:p>
              <a:pPr marL="597893" lvl="1" indent="-298947" algn="l">
                <a:buFont typeface="Arial"/>
                <a:buChar char="•"/>
              </a:pPr>
              <a:r>
                <a:rPr lang="en-US" sz="2400" b="1" dirty="0">
                  <a:solidFill>
                    <a:srgbClr val="D1D9E6"/>
                  </a:solidFill>
                  <a:latin typeface="Helvetica World Bold"/>
                  <a:ea typeface="Helvetica World Bold"/>
                  <a:cs typeface="Helvetica World Bold"/>
                  <a:sym typeface="Helvetica World Bold"/>
                </a:rPr>
                <a:t>P. Sharma, R. Kulkarni, and A. Deshmukh, “ANN-based irrigation decision support system using climatic parameters,” International Journal of Smart Agriculture, vol. 5, no. 3, pp. 45–52, 2023.</a:t>
              </a:r>
            </a:p>
            <a:p>
              <a:pPr marL="597893" lvl="1" indent="-298947" algn="l">
                <a:buFont typeface="Arial"/>
                <a:buChar char="•"/>
              </a:pPr>
              <a:endParaRPr lang="en-US" sz="2400" b="1" dirty="0">
                <a:solidFill>
                  <a:srgbClr val="D1D9E6"/>
                </a:solidFill>
                <a:latin typeface="Helvetica World Bold"/>
                <a:ea typeface="Helvetica World Bold"/>
                <a:cs typeface="Helvetica World Bold"/>
                <a:sym typeface="Helvetica World Bold"/>
              </a:endParaRPr>
            </a:p>
            <a:p>
              <a:pPr marL="597893" lvl="1" indent="-298947" algn="l">
                <a:buFont typeface="Arial"/>
                <a:buChar char="•"/>
              </a:pPr>
              <a:r>
                <a:rPr lang="en-US" sz="2400" b="1" dirty="0">
                  <a:solidFill>
                    <a:srgbClr val="D1D9E6"/>
                  </a:solidFill>
                  <a:latin typeface="Helvetica World Bold"/>
                  <a:ea typeface="Helvetica World Bold"/>
                  <a:cs typeface="Helvetica World Bold"/>
                  <a:sym typeface="Helvetica World Bold"/>
                </a:rPr>
                <a:t>M. Hossain and S. Ferdous, “Hybrid ANN–fuzzy irrigation controller for adaptive water management,” IEEE Transactions on </a:t>
              </a:r>
              <a:r>
                <a:rPr lang="en-US" sz="2400" b="1" dirty="0" err="1">
                  <a:solidFill>
                    <a:srgbClr val="D1D9E6"/>
                  </a:solidFill>
                  <a:latin typeface="Helvetica World Bold"/>
                  <a:ea typeface="Helvetica World Bold"/>
                  <a:cs typeface="Helvetica World Bold"/>
                  <a:sym typeface="Helvetica World Bold"/>
                </a:rPr>
                <a:t>Agro</a:t>
              </a:r>
              <a:r>
                <a:rPr lang="en-US" sz="2400" b="1" dirty="0">
                  <a:solidFill>
                    <a:srgbClr val="D1D9E6"/>
                  </a:solidFill>
                  <a:latin typeface="Helvetica World Bold"/>
                  <a:ea typeface="Helvetica World Bold"/>
                  <a:cs typeface="Helvetica World Bold"/>
                  <a:sym typeface="Helvetica World Bold"/>
                </a:rPr>
                <a:t>-Technology, vol. 12, no. 1, pp. 88–96, 2024.</a:t>
              </a:r>
            </a:p>
            <a:p>
              <a:pPr marL="597893" lvl="1" indent="-298947" algn="l">
                <a:buFont typeface="Arial"/>
                <a:buChar char="•"/>
              </a:pPr>
              <a:endParaRPr lang="en-US" sz="2400" b="1" dirty="0">
                <a:solidFill>
                  <a:srgbClr val="D1D9E6"/>
                </a:solidFill>
                <a:latin typeface="Helvetica World Bold"/>
                <a:ea typeface="Helvetica World Bold"/>
                <a:cs typeface="Helvetica World Bold"/>
                <a:sym typeface="Helvetica World Bold"/>
              </a:endParaRPr>
            </a:p>
            <a:p>
              <a:pPr marL="597893" lvl="1" indent="-298947" algn="l">
                <a:buFont typeface="Arial"/>
                <a:buChar char="•"/>
              </a:pPr>
              <a:r>
                <a:rPr lang="en-US" sz="2400" b="1" dirty="0">
                  <a:solidFill>
                    <a:srgbClr val="D1D9E6"/>
                  </a:solidFill>
                  <a:latin typeface="Helvetica World Bold"/>
                  <a:ea typeface="Helvetica World Bold"/>
                  <a:cs typeface="Helvetica World Bold"/>
                  <a:sym typeface="Helvetica World Bold"/>
                </a:rPr>
                <a:t>J. Park and S. Lee, “Weather-driven irrigation scheduling using cloud-based ANN models,” Journal of Environmental Computing, vol. 7, no. 2, pp. 134–142, 2023.</a:t>
              </a:r>
            </a:p>
            <a:p>
              <a:pPr marL="597893" lvl="1" indent="-298947" algn="l">
                <a:buFont typeface="Arial"/>
                <a:buChar char="•"/>
              </a:pPr>
              <a:endParaRPr lang="en-US" sz="2400" b="1" dirty="0">
                <a:solidFill>
                  <a:srgbClr val="D1D9E6"/>
                </a:solidFill>
                <a:latin typeface="Helvetica World Bold"/>
                <a:ea typeface="Helvetica World Bold"/>
                <a:cs typeface="Helvetica World Bold"/>
                <a:sym typeface="Helvetica World Bold"/>
              </a:endParaRPr>
            </a:p>
            <a:p>
              <a:pPr marL="597893" lvl="1" indent="-298947" algn="l">
                <a:buFont typeface="Arial"/>
                <a:buChar char="•"/>
              </a:pPr>
              <a:r>
                <a:rPr lang="en-US" sz="2400" b="1" dirty="0">
                  <a:solidFill>
                    <a:srgbClr val="D1D9E6"/>
                  </a:solidFill>
                  <a:latin typeface="Helvetica World Bold"/>
                  <a:ea typeface="Helvetica World Bold"/>
                  <a:cs typeface="Helvetica World Bold"/>
                  <a:sym typeface="Helvetica World Bold"/>
                </a:rPr>
                <a:t>R. Gomez, L. Hernandez, and M. Ortega, “A dashboard-oriented smart irrigation model using neural computation,” Springer Journal of Intelligent Farming Systems, vol. 9, no. 1, pp. 55–67, 2024.</a:t>
              </a:r>
            </a:p>
            <a:p>
              <a:pPr marL="597893" lvl="1" indent="-298947" algn="l">
                <a:buFont typeface="Arial"/>
                <a:buChar char="•"/>
              </a:pPr>
              <a:endParaRPr lang="en-US" sz="2400" b="1" dirty="0">
                <a:solidFill>
                  <a:srgbClr val="D1D9E6"/>
                </a:solidFill>
                <a:latin typeface="Helvetica World Bold"/>
                <a:ea typeface="Helvetica World Bold"/>
                <a:cs typeface="Helvetica World Bold"/>
                <a:sym typeface="Helvetica World Bold"/>
              </a:endParaRPr>
            </a:p>
            <a:p>
              <a:pPr marL="597893" lvl="1" indent="-298947" algn="l">
                <a:buFont typeface="Arial"/>
                <a:buChar char="•"/>
              </a:pPr>
              <a:r>
                <a:rPr lang="en-US" sz="2400" b="1" dirty="0">
                  <a:solidFill>
                    <a:srgbClr val="D1D9E6"/>
                  </a:solidFill>
                  <a:latin typeface="Helvetica World Bold"/>
                  <a:ea typeface="Helvetica World Bold"/>
                  <a:cs typeface="Helvetica World Bold"/>
                  <a:sym typeface="Helvetica World Bold"/>
                </a:rPr>
                <a:t>K. Rahmani, N. Fard, and S. Yazdi, “Fuzzy soil moisture interpretation for climate- responsive irrigation,” International Journal of Soft Computing in Agriculture, vol. 6, no. 2, pp. 74–81, 2025.</a:t>
              </a:r>
            </a:p>
            <a:p>
              <a:pPr marL="597893" lvl="1" indent="-298947" algn="l">
                <a:buFont typeface="Arial"/>
                <a:buChar char="•"/>
              </a:pPr>
              <a:endParaRPr lang="en-US" sz="2400" b="1" dirty="0">
                <a:solidFill>
                  <a:srgbClr val="D1D9E6"/>
                </a:solidFill>
                <a:latin typeface="Helvetica World Bold"/>
                <a:ea typeface="Helvetica World Bold"/>
                <a:cs typeface="Helvetica World Bold"/>
                <a:sym typeface="Helvetica World Bold"/>
              </a:endParaRPr>
            </a:p>
            <a:p>
              <a:pPr marL="597893" lvl="1" indent="-298947" algn="l">
                <a:buFont typeface="Arial"/>
                <a:buChar char="•"/>
              </a:pPr>
              <a:r>
                <a:rPr lang="en-US" sz="2400" b="1" dirty="0">
                  <a:solidFill>
                    <a:srgbClr val="D1D9E6"/>
                  </a:solidFill>
                  <a:latin typeface="Helvetica World Bold"/>
                  <a:ea typeface="Helvetica World Bold"/>
                  <a:cs typeface="Helvetica World Bold"/>
                  <a:sym typeface="Helvetica World Bold"/>
                </a:rPr>
                <a:t>S. Chaudhary and R. Verma, “ANN simulation model for irrigation scheduling without IoT sensors,” Journal of Digital Agriculture Engineering, vol. 4, no. 1, pp. 23–30, 2023.</a:t>
              </a:r>
            </a:p>
            <a:p>
              <a:pPr marL="597893" lvl="1" indent="-298947" algn="l">
                <a:buFont typeface="Arial"/>
                <a:buChar char="•"/>
              </a:pPr>
              <a:endParaRPr lang="en-US" sz="2400" b="1" dirty="0">
                <a:solidFill>
                  <a:srgbClr val="D1D9E6"/>
                </a:solidFill>
                <a:latin typeface="Helvetica World Bold"/>
                <a:ea typeface="Helvetica World Bold"/>
                <a:cs typeface="Helvetica World Bold"/>
                <a:sym typeface="Helvetica World Bold"/>
              </a:endParaRPr>
            </a:p>
            <a:p>
              <a:pPr marL="597893" lvl="1" indent="-298947" algn="l">
                <a:buFont typeface="Arial"/>
                <a:buChar char="•"/>
              </a:pPr>
              <a:r>
                <a:rPr lang="en-US" sz="2400" b="1" dirty="0">
                  <a:solidFill>
                    <a:srgbClr val="D1D9E6"/>
                  </a:solidFill>
                  <a:latin typeface="Helvetica World Bold"/>
                  <a:ea typeface="Helvetica World Bold"/>
                  <a:cs typeface="Helvetica World Bold"/>
                  <a:sym typeface="Helvetica World Bold"/>
                </a:rPr>
                <a:t>T. Adebayo, U. Musa, and C. Ibrahim, “Rainfall-aware ANN irrigation advisory system for monsoon regions,” IEEE Smart Farming Letters, vol. 3, no. 4, pp. 102–108, 2024.</a:t>
              </a:r>
            </a:p>
          </p:txBody>
        </p:sp>
        <p:sp>
          <p:nvSpPr>
            <p:cNvPr id="5" name="TextBox 5"/>
            <p:cNvSpPr txBox="1"/>
            <p:nvPr/>
          </p:nvSpPr>
          <p:spPr>
            <a:xfrm>
              <a:off x="0" y="-47625"/>
              <a:ext cx="21640800" cy="667293"/>
            </a:xfrm>
            <a:prstGeom prst="rect">
              <a:avLst/>
            </a:prstGeom>
          </p:spPr>
          <p:txBody>
            <a:bodyPr lIns="0" tIns="0" rIns="0" bIns="0" rtlCol="0" anchor="t">
              <a:spAutoFit/>
            </a:bodyPr>
            <a:lstStyle/>
            <a:p>
              <a:pPr marL="0" lvl="0" indent="0" algn="l">
                <a:lnSpc>
                  <a:spcPts val="3877"/>
                </a:lnSpc>
              </a:pPr>
              <a:r>
                <a:rPr lang="en-US" sz="2769" b="1">
                  <a:solidFill>
                    <a:srgbClr val="87A0C3"/>
                  </a:solidFill>
                  <a:latin typeface="Helvetica World Bold"/>
                  <a:ea typeface="Helvetica World Bold"/>
                  <a:cs typeface="Helvetica World Bold"/>
                  <a:sym typeface="Helvetica World Bold"/>
                </a:rPr>
                <a:t>Existing Works and Findings:</a:t>
              </a:r>
            </a:p>
          </p:txBody>
        </p:sp>
      </p:gr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A3A4A"/>
        </a:solidFill>
        <a:effectLst/>
      </p:bgPr>
    </p:bg>
    <p:spTree>
      <p:nvGrpSpPr>
        <p:cNvPr id="1" name=""/>
        <p:cNvGrpSpPr/>
        <p:nvPr/>
      </p:nvGrpSpPr>
      <p:grpSpPr>
        <a:xfrm>
          <a:off x="0" y="0"/>
          <a:ext cx="0" cy="0"/>
          <a:chOff x="0" y="0"/>
          <a:chExt cx="0" cy="0"/>
        </a:xfrm>
      </p:grpSpPr>
      <p:grpSp>
        <p:nvGrpSpPr>
          <p:cNvPr id="5" name="Group 5"/>
          <p:cNvGrpSpPr/>
          <p:nvPr/>
        </p:nvGrpSpPr>
        <p:grpSpPr>
          <a:xfrm>
            <a:off x="9462312" y="845761"/>
            <a:ext cx="7796988" cy="8412539"/>
            <a:chOff x="0" y="0"/>
            <a:chExt cx="10395983" cy="11216719"/>
          </a:xfrm>
        </p:grpSpPr>
        <p:sp>
          <p:nvSpPr>
            <p:cNvPr id="6" name="TextBox 6"/>
            <p:cNvSpPr txBox="1"/>
            <p:nvPr/>
          </p:nvSpPr>
          <p:spPr>
            <a:xfrm>
              <a:off x="0" y="85725"/>
              <a:ext cx="10395983" cy="1604223"/>
            </a:xfrm>
            <a:prstGeom prst="rect">
              <a:avLst/>
            </a:prstGeom>
          </p:spPr>
          <p:txBody>
            <a:bodyPr lIns="0" tIns="0" rIns="0" bIns="0" rtlCol="0" anchor="t">
              <a:spAutoFit/>
            </a:bodyPr>
            <a:lstStyle/>
            <a:p>
              <a:pPr marL="0" lvl="0" indent="0" algn="l">
                <a:lnSpc>
                  <a:spcPts val="9183"/>
                </a:lnSpc>
              </a:pPr>
              <a:r>
                <a:rPr lang="en-US" sz="8348" b="1" spc="-208">
                  <a:solidFill>
                    <a:srgbClr val="D1D9E6"/>
                  </a:solidFill>
                  <a:latin typeface="Garet Bold"/>
                  <a:ea typeface="Garet Bold"/>
                  <a:cs typeface="Garet Bold"/>
                  <a:sym typeface="Garet Bold"/>
                </a:rPr>
                <a:t>Objectives</a:t>
              </a:r>
            </a:p>
          </p:txBody>
        </p:sp>
        <p:sp>
          <p:nvSpPr>
            <p:cNvPr id="7" name="TextBox 7"/>
            <p:cNvSpPr txBox="1"/>
            <p:nvPr/>
          </p:nvSpPr>
          <p:spPr>
            <a:xfrm>
              <a:off x="0" y="2548699"/>
              <a:ext cx="10395983" cy="8668020"/>
            </a:xfrm>
            <a:prstGeom prst="rect">
              <a:avLst/>
            </a:prstGeom>
          </p:spPr>
          <p:txBody>
            <a:bodyPr lIns="0" tIns="0" rIns="0" bIns="0" rtlCol="0" anchor="t">
              <a:spAutoFit/>
            </a:bodyPr>
            <a:lstStyle/>
            <a:p>
              <a:pPr marL="664072" lvl="1" indent="-332036" algn="l">
                <a:lnSpc>
                  <a:spcPts val="4306"/>
                </a:lnSpc>
                <a:buAutoNum type="arabicPeriod"/>
              </a:pPr>
              <a:r>
                <a:rPr lang="en-US" sz="3075">
                  <a:solidFill>
                    <a:srgbClr val="D1D9E6"/>
                  </a:solidFill>
                  <a:latin typeface="Helvetica World"/>
                  <a:ea typeface="Helvetica World"/>
                  <a:cs typeface="Helvetica World"/>
                  <a:sym typeface="Helvetica World"/>
                </a:rPr>
                <a:t>Monitor real-time soil and environmental parameters (moisture, humidity, temperature, rainfall).</a:t>
              </a:r>
            </a:p>
            <a:p>
              <a:pPr marL="664072" lvl="1" indent="-332036" algn="l">
                <a:lnSpc>
                  <a:spcPts val="4306"/>
                </a:lnSpc>
                <a:buAutoNum type="arabicPeriod"/>
              </a:pPr>
              <a:r>
                <a:rPr lang="en-US" sz="3075">
                  <a:solidFill>
                    <a:srgbClr val="D1D9E6"/>
                  </a:solidFill>
                  <a:latin typeface="Helvetica World"/>
                  <a:ea typeface="Helvetica World"/>
                  <a:cs typeface="Helvetica World"/>
                  <a:sym typeface="Helvetica World"/>
                </a:rPr>
                <a:t>Use ANN and fuzzy logic for intelligent decision-making.</a:t>
              </a:r>
            </a:p>
            <a:p>
              <a:pPr marL="664072" lvl="1" indent="-332036" algn="l">
                <a:lnSpc>
                  <a:spcPts val="4306"/>
                </a:lnSpc>
                <a:buAutoNum type="arabicPeriod"/>
              </a:pPr>
              <a:r>
                <a:rPr lang="en-US" sz="3075">
                  <a:solidFill>
                    <a:srgbClr val="D1D9E6"/>
                  </a:solidFill>
                  <a:latin typeface="Helvetica World"/>
                  <a:ea typeface="Helvetica World"/>
                  <a:cs typeface="Helvetica World"/>
                  <a:sym typeface="Helvetica World"/>
                </a:rPr>
                <a:t>Automate irrigation control through pumps/valves.</a:t>
              </a:r>
            </a:p>
            <a:p>
              <a:pPr marL="664072" lvl="1" indent="-332036" algn="l">
                <a:lnSpc>
                  <a:spcPts val="4306"/>
                </a:lnSpc>
                <a:buAutoNum type="arabicPeriod"/>
              </a:pPr>
              <a:r>
                <a:rPr lang="en-US" sz="3075">
                  <a:solidFill>
                    <a:srgbClr val="D1D9E6"/>
                  </a:solidFill>
                  <a:latin typeface="Helvetica World"/>
                  <a:ea typeface="Helvetica World"/>
                  <a:cs typeface="Helvetica World"/>
                  <a:sym typeface="Helvetica World"/>
                </a:rPr>
                <a:t>Reduce human effort, water waste, and energy use.</a:t>
              </a:r>
            </a:p>
            <a:p>
              <a:pPr marL="664072" lvl="1" indent="-332036" algn="l">
                <a:lnSpc>
                  <a:spcPts val="4306"/>
                </a:lnSpc>
                <a:buAutoNum type="arabicPeriod"/>
              </a:pPr>
              <a:r>
                <a:rPr lang="en-US" sz="3075">
                  <a:solidFill>
                    <a:srgbClr val="D1D9E6"/>
                  </a:solidFill>
                  <a:latin typeface="Helvetica World"/>
                  <a:ea typeface="Helvetica World"/>
                  <a:cs typeface="Helvetica World"/>
                  <a:sym typeface="Helvetica World"/>
                </a:rPr>
                <a:t>Contribute to sustainable agriculture and smart farming.</a:t>
              </a:r>
            </a:p>
            <a:p>
              <a:pPr marL="0" lvl="0" indent="0" algn="l">
                <a:lnSpc>
                  <a:spcPts val="4306"/>
                </a:lnSpc>
              </a:pPr>
              <a:endParaRPr lang="en-US" sz="3075">
                <a:solidFill>
                  <a:srgbClr val="D1D9E6"/>
                </a:solidFill>
                <a:latin typeface="Helvetica World"/>
                <a:ea typeface="Helvetica World"/>
                <a:cs typeface="Helvetica World"/>
                <a:sym typeface="Helvetica World"/>
              </a:endParaRPr>
            </a:p>
          </p:txBody>
        </p:sp>
      </p:grpSp>
      <p:grpSp>
        <p:nvGrpSpPr>
          <p:cNvPr id="8" name="Group 8"/>
          <p:cNvGrpSpPr/>
          <p:nvPr/>
        </p:nvGrpSpPr>
        <p:grpSpPr>
          <a:xfrm>
            <a:off x="523460" y="992402"/>
            <a:ext cx="8302229" cy="8302196"/>
            <a:chOff x="0" y="0"/>
            <a:chExt cx="11069639" cy="11069594"/>
          </a:xfrm>
        </p:grpSpPr>
        <p:grpSp>
          <p:nvGrpSpPr>
            <p:cNvPr id="9" name="Group 9"/>
            <p:cNvGrpSpPr>
              <a:grpSpLocks noChangeAspect="1"/>
            </p:cNvGrpSpPr>
            <p:nvPr/>
          </p:nvGrpSpPr>
          <p:grpSpPr>
            <a:xfrm>
              <a:off x="0" y="0"/>
              <a:ext cx="11069639" cy="11069594"/>
              <a:chOff x="0" y="0"/>
              <a:chExt cx="6350000" cy="6349975"/>
            </a:xfrm>
          </p:grpSpPr>
          <p:sp>
            <p:nvSpPr>
              <p:cNvPr id="10" name="Freeform 1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D1D9E6"/>
              </a:solidFill>
              <a:ln w="12700">
                <a:solidFill>
                  <a:srgbClr val="000000"/>
                </a:solidFill>
              </a:ln>
            </p:spPr>
          </p:sp>
        </p:grpSp>
        <p:grpSp>
          <p:nvGrpSpPr>
            <p:cNvPr id="11" name="Group 11"/>
            <p:cNvGrpSpPr/>
            <p:nvPr/>
          </p:nvGrpSpPr>
          <p:grpSpPr>
            <a:xfrm>
              <a:off x="943769" y="943747"/>
              <a:ext cx="9182100" cy="918210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sp>
        </p:grpSp>
      </p:gr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A3A4A"/>
        </a:solidFill>
        <a:effectLst/>
      </p:bgPr>
    </p:bg>
    <p:spTree>
      <p:nvGrpSpPr>
        <p:cNvPr id="1" name=""/>
        <p:cNvGrpSpPr/>
        <p:nvPr/>
      </p:nvGrpSpPr>
      <p:grpSpPr>
        <a:xfrm>
          <a:off x="0" y="0"/>
          <a:ext cx="0" cy="0"/>
          <a:chOff x="0" y="0"/>
          <a:chExt cx="0" cy="0"/>
        </a:xfrm>
      </p:grpSpPr>
      <p:grpSp>
        <p:nvGrpSpPr>
          <p:cNvPr id="6" name="Group 6"/>
          <p:cNvGrpSpPr/>
          <p:nvPr/>
        </p:nvGrpSpPr>
        <p:grpSpPr>
          <a:xfrm>
            <a:off x="9516925" y="294709"/>
            <a:ext cx="4953000" cy="886392"/>
            <a:chOff x="0" y="-38100"/>
            <a:chExt cx="2477609" cy="502760"/>
          </a:xfrm>
        </p:grpSpPr>
        <p:sp>
          <p:nvSpPr>
            <p:cNvPr id="7" name="Freeform 7"/>
            <p:cNvSpPr/>
            <p:nvPr/>
          </p:nvSpPr>
          <p:spPr>
            <a:xfrm>
              <a:off x="0" y="4579"/>
              <a:ext cx="2477609" cy="455504"/>
            </a:xfrm>
            <a:custGeom>
              <a:avLst/>
              <a:gdLst/>
              <a:ahLst/>
              <a:cxnLst/>
              <a:rect l="l" t="t" r="r" b="b"/>
              <a:pathLst>
                <a:path w="2477609" h="464660">
                  <a:moveTo>
                    <a:pt x="34616" y="0"/>
                  </a:moveTo>
                  <a:lnTo>
                    <a:pt x="2442993" y="0"/>
                  </a:lnTo>
                  <a:cubicBezTo>
                    <a:pt x="2462111" y="0"/>
                    <a:pt x="2477609" y="15498"/>
                    <a:pt x="2477609" y="34616"/>
                  </a:cubicBezTo>
                  <a:lnTo>
                    <a:pt x="2477609" y="430043"/>
                  </a:lnTo>
                  <a:cubicBezTo>
                    <a:pt x="2477609" y="449161"/>
                    <a:pt x="2462111" y="464660"/>
                    <a:pt x="2442993" y="464660"/>
                  </a:cubicBezTo>
                  <a:lnTo>
                    <a:pt x="34616" y="464660"/>
                  </a:lnTo>
                  <a:cubicBezTo>
                    <a:pt x="15498" y="464660"/>
                    <a:pt x="0" y="449161"/>
                    <a:pt x="0" y="430043"/>
                  </a:cubicBezTo>
                  <a:lnTo>
                    <a:pt x="0" y="34616"/>
                  </a:lnTo>
                  <a:cubicBezTo>
                    <a:pt x="0" y="15498"/>
                    <a:pt x="15498" y="0"/>
                    <a:pt x="34616" y="0"/>
                  </a:cubicBezTo>
                  <a:close/>
                </a:path>
              </a:pathLst>
            </a:custGeom>
            <a:solidFill>
              <a:srgbClr val="545454"/>
            </a:solidFill>
          </p:spPr>
          <p:txBody>
            <a:bodyPr/>
            <a:lstStyle/>
            <a:p>
              <a:endParaRPr lang="en-IN" dirty="0"/>
            </a:p>
          </p:txBody>
        </p:sp>
        <p:sp>
          <p:nvSpPr>
            <p:cNvPr id="8" name="TextBox 8"/>
            <p:cNvSpPr txBox="1"/>
            <p:nvPr/>
          </p:nvSpPr>
          <p:spPr>
            <a:xfrm>
              <a:off x="0" y="-38100"/>
              <a:ext cx="2477609" cy="502760"/>
            </a:xfrm>
            <a:prstGeom prst="rect">
              <a:avLst/>
            </a:prstGeom>
          </p:spPr>
          <p:txBody>
            <a:bodyPr lIns="50800" tIns="50800" rIns="50800" bIns="50800" rtlCol="0" anchor="ctr"/>
            <a:lstStyle/>
            <a:p>
              <a:pPr algn="ctr">
                <a:lnSpc>
                  <a:spcPts val="3359"/>
                </a:lnSpc>
              </a:pPr>
              <a:r>
                <a:rPr lang="en-US" sz="2400" dirty="0">
                  <a:solidFill>
                    <a:srgbClr val="FFFFFF"/>
                  </a:solidFill>
                  <a:latin typeface="Helvetica World Bold"/>
                  <a:ea typeface="Helvetica World Bold"/>
                  <a:cs typeface="Helvetica World Bold"/>
                  <a:sym typeface="Helvetica World Bold"/>
                </a:rPr>
                <a:t>User Inputs (City, Crop, Soil)</a:t>
              </a:r>
            </a:p>
          </p:txBody>
        </p:sp>
      </p:grpSp>
      <p:sp>
        <p:nvSpPr>
          <p:cNvPr id="9" name="TextBox 9"/>
          <p:cNvSpPr txBox="1"/>
          <p:nvPr/>
        </p:nvSpPr>
        <p:spPr>
          <a:xfrm>
            <a:off x="666750" y="742950"/>
            <a:ext cx="8629650" cy="2134870"/>
          </a:xfrm>
          <a:prstGeom prst="rect">
            <a:avLst/>
          </a:prstGeom>
        </p:spPr>
        <p:txBody>
          <a:bodyPr lIns="0" tIns="0" rIns="0" bIns="0" rtlCol="0" anchor="t">
            <a:spAutoFit/>
          </a:bodyPr>
          <a:lstStyle/>
          <a:p>
            <a:pPr marL="0" lvl="0" indent="0" algn="l">
              <a:lnSpc>
                <a:spcPts val="8359"/>
              </a:lnSpc>
            </a:pPr>
            <a:r>
              <a:rPr lang="en-US" sz="7599" b="1" spc="-189" dirty="0">
                <a:solidFill>
                  <a:srgbClr val="D1D9E6"/>
                </a:solidFill>
                <a:latin typeface="Garet Bold"/>
                <a:ea typeface="Garet Bold"/>
                <a:cs typeface="Garet Bold"/>
                <a:sym typeface="Garet Bold"/>
              </a:rPr>
              <a:t>Process Flow Diagram </a:t>
            </a:r>
          </a:p>
        </p:txBody>
      </p:sp>
      <p:sp>
        <p:nvSpPr>
          <p:cNvPr id="10" name="Freeform 10"/>
          <p:cNvSpPr/>
          <p:nvPr/>
        </p:nvSpPr>
        <p:spPr>
          <a:xfrm rot="5460636">
            <a:off x="11763176" y="1309113"/>
            <a:ext cx="355218" cy="100919"/>
          </a:xfrm>
          <a:custGeom>
            <a:avLst/>
            <a:gdLst/>
            <a:ahLst/>
            <a:cxnLst/>
            <a:rect l="l" t="t" r="r" b="b"/>
            <a:pathLst>
              <a:path w="355218" h="100919">
                <a:moveTo>
                  <a:pt x="0" y="0"/>
                </a:moveTo>
                <a:lnTo>
                  <a:pt x="355218" y="0"/>
                </a:lnTo>
                <a:lnTo>
                  <a:pt x="355218" y="100919"/>
                </a:lnTo>
                <a:lnTo>
                  <a:pt x="0" y="10091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p:nvPr/>
        </p:nvSpPr>
        <p:spPr>
          <a:xfrm rot="5460636">
            <a:off x="11766266" y="2593535"/>
            <a:ext cx="329712" cy="93673"/>
          </a:xfrm>
          <a:custGeom>
            <a:avLst/>
            <a:gdLst/>
            <a:ahLst/>
            <a:cxnLst/>
            <a:rect l="l" t="t" r="r" b="b"/>
            <a:pathLst>
              <a:path w="329712" h="93673">
                <a:moveTo>
                  <a:pt x="0" y="0"/>
                </a:moveTo>
                <a:lnTo>
                  <a:pt x="329712" y="0"/>
                </a:lnTo>
                <a:lnTo>
                  <a:pt x="329712" y="93673"/>
                </a:lnTo>
                <a:lnTo>
                  <a:pt x="0" y="936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a:off x="9516925" y="1508095"/>
            <a:ext cx="4953000" cy="964802"/>
            <a:chOff x="0" y="0"/>
            <a:chExt cx="2099454" cy="464660"/>
          </a:xfrm>
        </p:grpSpPr>
        <p:sp>
          <p:nvSpPr>
            <p:cNvPr id="13" name="Freeform 13"/>
            <p:cNvSpPr/>
            <p:nvPr/>
          </p:nvSpPr>
          <p:spPr>
            <a:xfrm>
              <a:off x="0" y="0"/>
              <a:ext cx="2099454" cy="464660"/>
            </a:xfrm>
            <a:custGeom>
              <a:avLst/>
              <a:gdLst/>
              <a:ahLst/>
              <a:cxnLst/>
              <a:rect l="l" t="t" r="r" b="b"/>
              <a:pathLst>
                <a:path w="2099454" h="464660">
                  <a:moveTo>
                    <a:pt x="34687" y="0"/>
                  </a:moveTo>
                  <a:lnTo>
                    <a:pt x="2064767" y="0"/>
                  </a:lnTo>
                  <a:cubicBezTo>
                    <a:pt x="2073967" y="0"/>
                    <a:pt x="2082790" y="3655"/>
                    <a:pt x="2089295" y="10160"/>
                  </a:cubicBezTo>
                  <a:cubicBezTo>
                    <a:pt x="2095800" y="16665"/>
                    <a:pt x="2099454" y="25488"/>
                    <a:pt x="2099454" y="34687"/>
                  </a:cubicBezTo>
                  <a:lnTo>
                    <a:pt x="2099454" y="429972"/>
                  </a:lnTo>
                  <a:cubicBezTo>
                    <a:pt x="2099454" y="439172"/>
                    <a:pt x="2095800" y="447995"/>
                    <a:pt x="2089295" y="454500"/>
                  </a:cubicBezTo>
                  <a:cubicBezTo>
                    <a:pt x="2082790" y="461005"/>
                    <a:pt x="2073967" y="464660"/>
                    <a:pt x="2064767" y="464660"/>
                  </a:cubicBezTo>
                  <a:lnTo>
                    <a:pt x="34687" y="464660"/>
                  </a:lnTo>
                  <a:cubicBezTo>
                    <a:pt x="25488" y="464660"/>
                    <a:pt x="16665" y="461005"/>
                    <a:pt x="10160" y="454500"/>
                  </a:cubicBezTo>
                  <a:cubicBezTo>
                    <a:pt x="3655" y="447995"/>
                    <a:pt x="0" y="439172"/>
                    <a:pt x="0" y="429972"/>
                  </a:cubicBezTo>
                  <a:lnTo>
                    <a:pt x="0" y="34687"/>
                  </a:lnTo>
                  <a:cubicBezTo>
                    <a:pt x="0" y="25488"/>
                    <a:pt x="3655" y="16665"/>
                    <a:pt x="10160" y="10160"/>
                  </a:cubicBezTo>
                  <a:cubicBezTo>
                    <a:pt x="16665" y="3655"/>
                    <a:pt x="25488" y="0"/>
                    <a:pt x="34687" y="0"/>
                  </a:cubicBezTo>
                  <a:close/>
                </a:path>
              </a:pathLst>
            </a:custGeom>
            <a:solidFill>
              <a:srgbClr val="545454"/>
            </a:solidFill>
          </p:spPr>
        </p:sp>
        <p:sp>
          <p:nvSpPr>
            <p:cNvPr id="14" name="TextBox 14"/>
            <p:cNvSpPr txBox="1"/>
            <p:nvPr/>
          </p:nvSpPr>
          <p:spPr>
            <a:xfrm>
              <a:off x="0" y="-38100"/>
              <a:ext cx="2099454" cy="502760"/>
            </a:xfrm>
            <a:prstGeom prst="rect">
              <a:avLst/>
            </a:prstGeom>
          </p:spPr>
          <p:txBody>
            <a:bodyPr lIns="50800" tIns="50800" rIns="50800" bIns="50800" rtlCol="0" anchor="ctr"/>
            <a:lstStyle/>
            <a:p>
              <a:pPr algn="ctr">
                <a:lnSpc>
                  <a:spcPts val="3359"/>
                </a:lnSpc>
              </a:pPr>
              <a:r>
                <a:rPr lang="en-US" sz="2400" b="1" dirty="0">
                  <a:solidFill>
                    <a:srgbClr val="FFFFFF"/>
                  </a:solidFill>
                  <a:latin typeface="Helvetica World Bold"/>
                  <a:ea typeface="Helvetica World Bold"/>
                  <a:cs typeface="Helvetica World Bold"/>
                  <a:sym typeface="Helvetica World Bold"/>
                </a:rPr>
                <a:t>Fetch Real-time Weather API (Temp, Humidity, Rain, Wind)</a:t>
              </a:r>
            </a:p>
          </p:txBody>
        </p:sp>
      </p:grpSp>
      <p:sp>
        <p:nvSpPr>
          <p:cNvPr id="15" name="Freeform 15"/>
          <p:cNvSpPr/>
          <p:nvPr/>
        </p:nvSpPr>
        <p:spPr>
          <a:xfrm rot="5460636">
            <a:off x="11723177" y="4141556"/>
            <a:ext cx="374953" cy="106526"/>
          </a:xfrm>
          <a:custGeom>
            <a:avLst/>
            <a:gdLst/>
            <a:ahLst/>
            <a:cxnLst/>
            <a:rect l="l" t="t" r="r" b="b"/>
            <a:pathLst>
              <a:path w="374953" h="106526">
                <a:moveTo>
                  <a:pt x="0" y="0"/>
                </a:moveTo>
                <a:lnTo>
                  <a:pt x="374953" y="0"/>
                </a:lnTo>
                <a:lnTo>
                  <a:pt x="374953" y="106526"/>
                </a:lnTo>
                <a:lnTo>
                  <a:pt x="0" y="1065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6" name="Group 16"/>
          <p:cNvGrpSpPr/>
          <p:nvPr/>
        </p:nvGrpSpPr>
        <p:grpSpPr>
          <a:xfrm>
            <a:off x="9914708" y="2740472"/>
            <a:ext cx="4263138" cy="1373700"/>
            <a:chOff x="0" y="-38099"/>
            <a:chExt cx="2477609" cy="798354"/>
          </a:xfrm>
        </p:grpSpPr>
        <p:sp>
          <p:nvSpPr>
            <p:cNvPr id="17" name="Freeform 17"/>
            <p:cNvSpPr/>
            <p:nvPr/>
          </p:nvSpPr>
          <p:spPr>
            <a:xfrm>
              <a:off x="0" y="0"/>
              <a:ext cx="2477609" cy="760255"/>
            </a:xfrm>
            <a:custGeom>
              <a:avLst/>
              <a:gdLst/>
              <a:ahLst/>
              <a:cxnLst/>
              <a:rect l="l" t="t" r="r" b="b"/>
              <a:pathLst>
                <a:path w="2477609" h="760255">
                  <a:moveTo>
                    <a:pt x="35469" y="0"/>
                  </a:moveTo>
                  <a:lnTo>
                    <a:pt x="2442140" y="0"/>
                  </a:lnTo>
                  <a:cubicBezTo>
                    <a:pt x="2461729" y="0"/>
                    <a:pt x="2477609" y="15880"/>
                    <a:pt x="2477609" y="35469"/>
                  </a:cubicBezTo>
                  <a:lnTo>
                    <a:pt x="2477609" y="724785"/>
                  </a:lnTo>
                  <a:cubicBezTo>
                    <a:pt x="2477609" y="744374"/>
                    <a:pt x="2461729" y="760255"/>
                    <a:pt x="2442140" y="760255"/>
                  </a:cubicBezTo>
                  <a:lnTo>
                    <a:pt x="35469" y="760255"/>
                  </a:lnTo>
                  <a:cubicBezTo>
                    <a:pt x="15880" y="760255"/>
                    <a:pt x="0" y="744374"/>
                    <a:pt x="0" y="724785"/>
                  </a:cubicBezTo>
                  <a:lnTo>
                    <a:pt x="0" y="35469"/>
                  </a:lnTo>
                  <a:cubicBezTo>
                    <a:pt x="0" y="15880"/>
                    <a:pt x="15880" y="0"/>
                    <a:pt x="35469" y="0"/>
                  </a:cubicBezTo>
                  <a:close/>
                </a:path>
              </a:pathLst>
            </a:custGeom>
            <a:solidFill>
              <a:srgbClr val="545454"/>
            </a:solidFill>
          </p:spPr>
        </p:sp>
        <p:sp>
          <p:nvSpPr>
            <p:cNvPr id="18" name="TextBox 18"/>
            <p:cNvSpPr txBox="1"/>
            <p:nvPr/>
          </p:nvSpPr>
          <p:spPr>
            <a:xfrm>
              <a:off x="0" y="-38099"/>
              <a:ext cx="2477609" cy="774341"/>
            </a:xfrm>
            <a:prstGeom prst="rect">
              <a:avLst/>
            </a:prstGeom>
          </p:spPr>
          <p:txBody>
            <a:bodyPr lIns="50800" tIns="50800" rIns="50800" bIns="50800" rtlCol="0" anchor="ctr"/>
            <a:lstStyle/>
            <a:p>
              <a:pPr algn="ctr">
                <a:lnSpc>
                  <a:spcPts val="3359"/>
                </a:lnSpc>
              </a:pPr>
              <a:r>
                <a:rPr lang="en-US" sz="2400" b="1" dirty="0">
                  <a:solidFill>
                    <a:srgbClr val="FFFFFF"/>
                  </a:solidFill>
                  <a:latin typeface="Helvetica World Bold"/>
                  <a:ea typeface="Helvetica World Bold"/>
                  <a:cs typeface="Helvetica World Bold"/>
                  <a:sym typeface="Helvetica World Bold"/>
                </a:rPr>
                <a:t>Soil Moisture Estimation Model</a:t>
              </a:r>
            </a:p>
          </p:txBody>
        </p:sp>
      </p:grpSp>
      <p:sp>
        <p:nvSpPr>
          <p:cNvPr id="19" name="Freeform 19"/>
          <p:cNvSpPr/>
          <p:nvPr/>
        </p:nvSpPr>
        <p:spPr>
          <a:xfrm rot="5460636">
            <a:off x="11742814" y="5785508"/>
            <a:ext cx="375933" cy="106805"/>
          </a:xfrm>
          <a:custGeom>
            <a:avLst/>
            <a:gdLst/>
            <a:ahLst/>
            <a:cxnLst/>
            <a:rect l="l" t="t" r="r" b="b"/>
            <a:pathLst>
              <a:path w="375933" h="106805">
                <a:moveTo>
                  <a:pt x="0" y="0"/>
                </a:moveTo>
                <a:lnTo>
                  <a:pt x="375933" y="0"/>
                </a:lnTo>
                <a:lnTo>
                  <a:pt x="375933" y="106805"/>
                </a:lnTo>
                <a:lnTo>
                  <a:pt x="0" y="1068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0" name="Group 20"/>
          <p:cNvGrpSpPr/>
          <p:nvPr/>
        </p:nvGrpSpPr>
        <p:grpSpPr>
          <a:xfrm>
            <a:off x="9669325" y="4317782"/>
            <a:ext cx="4953000" cy="1370909"/>
            <a:chOff x="-1" y="-38100"/>
            <a:chExt cx="2099455" cy="798355"/>
          </a:xfrm>
        </p:grpSpPr>
        <p:sp>
          <p:nvSpPr>
            <p:cNvPr id="21" name="Freeform 21"/>
            <p:cNvSpPr/>
            <p:nvPr/>
          </p:nvSpPr>
          <p:spPr>
            <a:xfrm>
              <a:off x="0" y="0"/>
              <a:ext cx="2099454" cy="760255"/>
            </a:xfrm>
            <a:custGeom>
              <a:avLst/>
              <a:gdLst/>
              <a:ahLst/>
              <a:cxnLst/>
              <a:rect l="l" t="t" r="r" b="b"/>
              <a:pathLst>
                <a:path w="2099454" h="760255">
                  <a:moveTo>
                    <a:pt x="41943" y="0"/>
                  </a:moveTo>
                  <a:lnTo>
                    <a:pt x="2057511" y="0"/>
                  </a:lnTo>
                  <a:cubicBezTo>
                    <a:pt x="2080676" y="0"/>
                    <a:pt x="2099454" y="18779"/>
                    <a:pt x="2099454" y="41943"/>
                  </a:cubicBezTo>
                  <a:lnTo>
                    <a:pt x="2099454" y="718312"/>
                  </a:lnTo>
                  <a:cubicBezTo>
                    <a:pt x="2099454" y="741476"/>
                    <a:pt x="2080676" y="760255"/>
                    <a:pt x="2057511" y="760255"/>
                  </a:cubicBezTo>
                  <a:lnTo>
                    <a:pt x="41943" y="760255"/>
                  </a:lnTo>
                  <a:cubicBezTo>
                    <a:pt x="30819" y="760255"/>
                    <a:pt x="20151" y="755836"/>
                    <a:pt x="12285" y="747970"/>
                  </a:cubicBezTo>
                  <a:cubicBezTo>
                    <a:pt x="4419" y="740104"/>
                    <a:pt x="0" y="729435"/>
                    <a:pt x="0" y="718312"/>
                  </a:cubicBezTo>
                  <a:lnTo>
                    <a:pt x="0" y="41943"/>
                  </a:lnTo>
                  <a:cubicBezTo>
                    <a:pt x="0" y="18779"/>
                    <a:pt x="18779" y="0"/>
                    <a:pt x="41943" y="0"/>
                  </a:cubicBezTo>
                  <a:close/>
                </a:path>
              </a:pathLst>
            </a:custGeom>
            <a:solidFill>
              <a:srgbClr val="545454"/>
            </a:solidFill>
          </p:spPr>
        </p:sp>
        <p:sp>
          <p:nvSpPr>
            <p:cNvPr id="22" name="TextBox 22"/>
            <p:cNvSpPr txBox="1"/>
            <p:nvPr/>
          </p:nvSpPr>
          <p:spPr>
            <a:xfrm>
              <a:off x="-1" y="-38100"/>
              <a:ext cx="2099455" cy="798355"/>
            </a:xfrm>
            <a:prstGeom prst="rect">
              <a:avLst/>
            </a:prstGeom>
          </p:spPr>
          <p:txBody>
            <a:bodyPr lIns="50800" tIns="50800" rIns="50800" bIns="50800" rtlCol="0" anchor="ctr"/>
            <a:lstStyle/>
            <a:p>
              <a:pPr algn="ctr">
                <a:lnSpc>
                  <a:spcPts val="3359"/>
                </a:lnSpc>
              </a:pPr>
              <a:r>
                <a:rPr lang="en-US" sz="2400" b="1" dirty="0">
                  <a:solidFill>
                    <a:srgbClr val="FFFFFF"/>
                  </a:solidFill>
                  <a:latin typeface="Helvetica World Bold"/>
                  <a:ea typeface="Helvetica World Bold"/>
                  <a:cs typeface="Helvetica World Bold"/>
                  <a:sym typeface="Helvetica World Bold"/>
                </a:rPr>
                <a:t>Fuzzy Moisture Classification </a:t>
              </a:r>
            </a:p>
            <a:p>
              <a:pPr algn="ctr">
                <a:lnSpc>
                  <a:spcPts val="3359"/>
                </a:lnSpc>
              </a:pPr>
              <a:r>
                <a:rPr lang="en-US" sz="2400" b="1" dirty="0">
                  <a:solidFill>
                    <a:srgbClr val="FFFFFF"/>
                  </a:solidFill>
                  <a:latin typeface="Helvetica World Bold"/>
                  <a:ea typeface="Helvetica World Bold"/>
                  <a:cs typeface="Helvetica World Bold"/>
                  <a:sym typeface="Helvetica World Bold"/>
                </a:rPr>
                <a:t>(Dry/ Moderate/ Wet) </a:t>
              </a:r>
            </a:p>
          </p:txBody>
        </p:sp>
      </p:grpSp>
      <p:grpSp>
        <p:nvGrpSpPr>
          <p:cNvPr id="23" name="Group 23"/>
          <p:cNvGrpSpPr/>
          <p:nvPr/>
        </p:nvGrpSpPr>
        <p:grpSpPr>
          <a:xfrm>
            <a:off x="9914708" y="6008648"/>
            <a:ext cx="4555216" cy="1456280"/>
            <a:chOff x="0" y="0"/>
            <a:chExt cx="1973111" cy="780551"/>
          </a:xfrm>
        </p:grpSpPr>
        <p:sp>
          <p:nvSpPr>
            <p:cNvPr id="24" name="Freeform 24"/>
            <p:cNvSpPr/>
            <p:nvPr/>
          </p:nvSpPr>
          <p:spPr>
            <a:xfrm>
              <a:off x="0" y="0"/>
              <a:ext cx="1973111" cy="780551"/>
            </a:xfrm>
            <a:custGeom>
              <a:avLst/>
              <a:gdLst/>
              <a:ahLst/>
              <a:cxnLst/>
              <a:rect l="l" t="t" r="r" b="b"/>
              <a:pathLst>
                <a:path w="1973111" h="780551">
                  <a:moveTo>
                    <a:pt x="41076" y="0"/>
                  </a:moveTo>
                  <a:lnTo>
                    <a:pt x="1932036" y="0"/>
                  </a:lnTo>
                  <a:cubicBezTo>
                    <a:pt x="1942929" y="0"/>
                    <a:pt x="1953377" y="4328"/>
                    <a:pt x="1961080" y="12031"/>
                  </a:cubicBezTo>
                  <a:cubicBezTo>
                    <a:pt x="1968784" y="19734"/>
                    <a:pt x="1973111" y="30182"/>
                    <a:pt x="1973111" y="41076"/>
                  </a:cubicBezTo>
                  <a:lnTo>
                    <a:pt x="1973111" y="739475"/>
                  </a:lnTo>
                  <a:cubicBezTo>
                    <a:pt x="1973111" y="762160"/>
                    <a:pt x="1954721" y="780551"/>
                    <a:pt x="1932036" y="780551"/>
                  </a:cubicBezTo>
                  <a:lnTo>
                    <a:pt x="41076" y="780551"/>
                  </a:lnTo>
                  <a:cubicBezTo>
                    <a:pt x="18390" y="780551"/>
                    <a:pt x="0" y="762160"/>
                    <a:pt x="0" y="739475"/>
                  </a:cubicBezTo>
                  <a:lnTo>
                    <a:pt x="0" y="41076"/>
                  </a:lnTo>
                  <a:cubicBezTo>
                    <a:pt x="0" y="18390"/>
                    <a:pt x="18390" y="0"/>
                    <a:pt x="41076" y="0"/>
                  </a:cubicBezTo>
                  <a:close/>
                </a:path>
              </a:pathLst>
            </a:custGeom>
            <a:solidFill>
              <a:srgbClr val="545454"/>
            </a:solidFill>
          </p:spPr>
        </p:sp>
        <p:sp>
          <p:nvSpPr>
            <p:cNvPr id="25" name="TextBox 25"/>
            <p:cNvSpPr txBox="1"/>
            <p:nvPr/>
          </p:nvSpPr>
          <p:spPr>
            <a:xfrm>
              <a:off x="0" y="-38100"/>
              <a:ext cx="1973111" cy="818651"/>
            </a:xfrm>
            <a:prstGeom prst="rect">
              <a:avLst/>
            </a:prstGeom>
          </p:spPr>
          <p:txBody>
            <a:bodyPr lIns="50800" tIns="50800" rIns="50800" bIns="50800" rtlCol="0" anchor="ctr"/>
            <a:lstStyle/>
            <a:p>
              <a:pPr algn="ctr">
                <a:lnSpc>
                  <a:spcPts val="3359"/>
                </a:lnSpc>
              </a:pPr>
              <a:r>
                <a:rPr lang="en-US" sz="2400" b="1" dirty="0">
                  <a:solidFill>
                    <a:srgbClr val="FFFFFF"/>
                  </a:solidFill>
                  <a:latin typeface="Helvetica World Bold"/>
                  <a:ea typeface="Helvetica World Bold"/>
                  <a:cs typeface="Helvetica World Bold"/>
                  <a:sym typeface="Helvetica World Bold"/>
                </a:rPr>
                <a:t>ANN Irrigation Decision Engine (Weighted Inputs + Sigmoid Output)</a:t>
              </a:r>
            </a:p>
          </p:txBody>
        </p:sp>
      </p:grpSp>
      <p:grpSp>
        <p:nvGrpSpPr>
          <p:cNvPr id="26" name="Group 26"/>
          <p:cNvGrpSpPr/>
          <p:nvPr/>
        </p:nvGrpSpPr>
        <p:grpSpPr>
          <a:xfrm>
            <a:off x="9914708" y="7744370"/>
            <a:ext cx="4300656" cy="1089072"/>
            <a:chOff x="0" y="-38100"/>
            <a:chExt cx="2099454" cy="502760"/>
          </a:xfrm>
        </p:grpSpPr>
        <p:sp>
          <p:nvSpPr>
            <p:cNvPr id="27" name="Freeform 27"/>
            <p:cNvSpPr/>
            <p:nvPr/>
          </p:nvSpPr>
          <p:spPr>
            <a:xfrm>
              <a:off x="0" y="0"/>
              <a:ext cx="2099454" cy="464660"/>
            </a:xfrm>
            <a:custGeom>
              <a:avLst/>
              <a:gdLst/>
              <a:ahLst/>
              <a:cxnLst/>
              <a:rect l="l" t="t" r="r" b="b"/>
              <a:pathLst>
                <a:path w="2099454" h="464660">
                  <a:moveTo>
                    <a:pt x="45120" y="0"/>
                  </a:moveTo>
                  <a:lnTo>
                    <a:pt x="2054334" y="0"/>
                  </a:lnTo>
                  <a:cubicBezTo>
                    <a:pt x="2079253" y="0"/>
                    <a:pt x="2099454" y="20201"/>
                    <a:pt x="2099454" y="45120"/>
                  </a:cubicBezTo>
                  <a:lnTo>
                    <a:pt x="2099454" y="419539"/>
                  </a:lnTo>
                  <a:cubicBezTo>
                    <a:pt x="2099454" y="444459"/>
                    <a:pt x="2079253" y="464660"/>
                    <a:pt x="2054334" y="464660"/>
                  </a:cubicBezTo>
                  <a:lnTo>
                    <a:pt x="45120" y="464660"/>
                  </a:lnTo>
                  <a:cubicBezTo>
                    <a:pt x="20201" y="464660"/>
                    <a:pt x="0" y="444459"/>
                    <a:pt x="0" y="419539"/>
                  </a:cubicBezTo>
                  <a:lnTo>
                    <a:pt x="0" y="45120"/>
                  </a:lnTo>
                  <a:cubicBezTo>
                    <a:pt x="0" y="20201"/>
                    <a:pt x="20201" y="0"/>
                    <a:pt x="45120" y="0"/>
                  </a:cubicBezTo>
                  <a:close/>
                </a:path>
              </a:pathLst>
            </a:custGeom>
            <a:solidFill>
              <a:srgbClr val="545454"/>
            </a:solidFill>
          </p:spPr>
        </p:sp>
        <p:sp>
          <p:nvSpPr>
            <p:cNvPr id="28" name="TextBox 28"/>
            <p:cNvSpPr txBox="1"/>
            <p:nvPr/>
          </p:nvSpPr>
          <p:spPr>
            <a:xfrm>
              <a:off x="0" y="-38100"/>
              <a:ext cx="2099454" cy="502760"/>
            </a:xfrm>
            <a:prstGeom prst="rect">
              <a:avLst/>
            </a:prstGeom>
          </p:spPr>
          <p:txBody>
            <a:bodyPr lIns="50800" tIns="50800" rIns="50800" bIns="50800" rtlCol="0" anchor="ctr"/>
            <a:lstStyle/>
            <a:p>
              <a:pPr algn="ctr">
                <a:lnSpc>
                  <a:spcPts val="3359"/>
                </a:lnSpc>
              </a:pPr>
              <a:r>
                <a:rPr lang="en-US" sz="2400" b="1" dirty="0">
                  <a:solidFill>
                    <a:srgbClr val="FFFFFF"/>
                  </a:solidFill>
                  <a:latin typeface="Helvetica World Bold"/>
                  <a:ea typeface="Helvetica World Bold"/>
                  <a:cs typeface="Helvetica World Bold"/>
                  <a:sym typeface="Helvetica World Bold"/>
                </a:rPr>
                <a:t>Final Irrigation Decision (ON/OFF)</a:t>
              </a:r>
            </a:p>
          </p:txBody>
        </p:sp>
      </p:grpSp>
      <p:sp>
        <p:nvSpPr>
          <p:cNvPr id="29" name="Freeform 29"/>
          <p:cNvSpPr/>
          <p:nvPr/>
        </p:nvSpPr>
        <p:spPr>
          <a:xfrm rot="5460636">
            <a:off x="11726370" y="7586956"/>
            <a:ext cx="338615" cy="96202"/>
          </a:xfrm>
          <a:custGeom>
            <a:avLst/>
            <a:gdLst/>
            <a:ahLst/>
            <a:cxnLst/>
            <a:rect l="l" t="t" r="r" b="b"/>
            <a:pathLst>
              <a:path w="338615" h="96202">
                <a:moveTo>
                  <a:pt x="0" y="0"/>
                </a:moveTo>
                <a:lnTo>
                  <a:pt x="338615" y="0"/>
                </a:lnTo>
                <a:lnTo>
                  <a:pt x="338615" y="96202"/>
                </a:lnTo>
                <a:lnTo>
                  <a:pt x="0" y="962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0" name="Freeform 27">
            <a:extLst>
              <a:ext uri="{FF2B5EF4-FFF2-40B4-BE49-F238E27FC236}">
                <a16:creationId xmlns:a16="http://schemas.microsoft.com/office/drawing/2014/main" id="{A88CCDCE-3C7B-BA92-0077-4B657B1DD78F}"/>
              </a:ext>
            </a:extLst>
          </p:cNvPr>
          <p:cNvSpPr/>
          <p:nvPr/>
        </p:nvSpPr>
        <p:spPr>
          <a:xfrm>
            <a:off x="10318738" y="9105899"/>
            <a:ext cx="3351264" cy="886392"/>
          </a:xfrm>
          <a:custGeom>
            <a:avLst/>
            <a:gdLst/>
            <a:ahLst/>
            <a:cxnLst/>
            <a:rect l="l" t="t" r="r" b="b"/>
            <a:pathLst>
              <a:path w="2099454" h="464660">
                <a:moveTo>
                  <a:pt x="45120" y="0"/>
                </a:moveTo>
                <a:lnTo>
                  <a:pt x="2054334" y="0"/>
                </a:lnTo>
                <a:cubicBezTo>
                  <a:pt x="2079253" y="0"/>
                  <a:pt x="2099454" y="20201"/>
                  <a:pt x="2099454" y="45120"/>
                </a:cubicBezTo>
                <a:lnTo>
                  <a:pt x="2099454" y="419539"/>
                </a:lnTo>
                <a:cubicBezTo>
                  <a:pt x="2099454" y="444459"/>
                  <a:pt x="2079253" y="464660"/>
                  <a:pt x="2054334" y="464660"/>
                </a:cubicBezTo>
                <a:lnTo>
                  <a:pt x="45120" y="464660"/>
                </a:lnTo>
                <a:cubicBezTo>
                  <a:pt x="20201" y="464660"/>
                  <a:pt x="0" y="444459"/>
                  <a:pt x="0" y="419539"/>
                </a:cubicBezTo>
                <a:lnTo>
                  <a:pt x="0" y="45120"/>
                </a:lnTo>
                <a:cubicBezTo>
                  <a:pt x="0" y="20201"/>
                  <a:pt x="20201" y="0"/>
                  <a:pt x="45120" y="0"/>
                </a:cubicBezTo>
                <a:close/>
              </a:path>
            </a:pathLst>
          </a:custGeom>
          <a:solidFill>
            <a:srgbClr val="545454"/>
          </a:solidFill>
        </p:spPr>
        <p:txBody>
          <a:bodyPr/>
          <a:lstStyle/>
          <a:p>
            <a:pPr lvl="0" algn="ctr">
              <a:lnSpc>
                <a:spcPts val="3359"/>
              </a:lnSpc>
              <a:defRPr/>
            </a:pPr>
            <a:r>
              <a:rPr lang="en-US" sz="2400" b="1" dirty="0">
                <a:solidFill>
                  <a:srgbClr val="FFFFFF"/>
                </a:solidFill>
                <a:latin typeface="Helvetica World Bold"/>
                <a:ea typeface="Helvetica World Bold"/>
                <a:cs typeface="Helvetica World Bold"/>
                <a:sym typeface="Helvetica World Bold"/>
              </a:rPr>
              <a:t>Dashboard Output + Water Savings </a:t>
            </a:r>
            <a:endParaRPr lang="en-IN" dirty="0"/>
          </a:p>
        </p:txBody>
      </p:sp>
      <p:sp>
        <p:nvSpPr>
          <p:cNvPr id="31" name="Freeform 29">
            <a:extLst>
              <a:ext uri="{FF2B5EF4-FFF2-40B4-BE49-F238E27FC236}">
                <a16:creationId xmlns:a16="http://schemas.microsoft.com/office/drawing/2014/main" id="{BF3DA1A2-B868-9C30-28E9-5578C2839362}"/>
              </a:ext>
            </a:extLst>
          </p:cNvPr>
          <p:cNvSpPr/>
          <p:nvPr/>
        </p:nvSpPr>
        <p:spPr>
          <a:xfrm rot="5460636">
            <a:off x="11771477" y="8947401"/>
            <a:ext cx="338615" cy="96202"/>
          </a:xfrm>
          <a:custGeom>
            <a:avLst/>
            <a:gdLst/>
            <a:ahLst/>
            <a:cxnLst/>
            <a:rect l="l" t="t" r="r" b="b"/>
            <a:pathLst>
              <a:path w="338615" h="96202">
                <a:moveTo>
                  <a:pt x="0" y="0"/>
                </a:moveTo>
                <a:lnTo>
                  <a:pt x="338615" y="0"/>
                </a:lnTo>
                <a:lnTo>
                  <a:pt x="338615" y="96202"/>
                </a:lnTo>
                <a:lnTo>
                  <a:pt x="0" y="962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A3A4A"/>
        </a:solidFill>
        <a:effectLst/>
      </p:bgPr>
    </p:bg>
    <p:spTree>
      <p:nvGrpSpPr>
        <p:cNvPr id="1" name=""/>
        <p:cNvGrpSpPr/>
        <p:nvPr/>
      </p:nvGrpSpPr>
      <p:grpSpPr>
        <a:xfrm>
          <a:off x="0" y="0"/>
          <a:ext cx="0" cy="0"/>
          <a:chOff x="0" y="0"/>
          <a:chExt cx="0" cy="0"/>
        </a:xfrm>
      </p:grpSpPr>
      <p:sp>
        <p:nvSpPr>
          <p:cNvPr id="2" name="TextBox 2"/>
          <p:cNvSpPr txBox="1"/>
          <p:nvPr/>
        </p:nvSpPr>
        <p:spPr>
          <a:xfrm>
            <a:off x="666750" y="742950"/>
            <a:ext cx="8629650" cy="1077595"/>
          </a:xfrm>
          <a:prstGeom prst="rect">
            <a:avLst/>
          </a:prstGeom>
        </p:spPr>
        <p:txBody>
          <a:bodyPr lIns="0" tIns="0" rIns="0" bIns="0" rtlCol="0" anchor="t">
            <a:spAutoFit/>
          </a:bodyPr>
          <a:lstStyle/>
          <a:p>
            <a:pPr marL="0" lvl="0" indent="0" algn="l">
              <a:lnSpc>
                <a:spcPts val="8359"/>
              </a:lnSpc>
            </a:pPr>
            <a:r>
              <a:rPr lang="en-US" sz="7599" b="1" spc="-189">
                <a:solidFill>
                  <a:srgbClr val="D1D9E6"/>
                </a:solidFill>
                <a:latin typeface="Garet Bold"/>
                <a:ea typeface="Garet Bold"/>
                <a:cs typeface="Garet Bold"/>
                <a:sym typeface="Garet Bold"/>
              </a:rPr>
              <a:t>Methodology</a:t>
            </a:r>
          </a:p>
        </p:txBody>
      </p:sp>
      <p:grpSp>
        <p:nvGrpSpPr>
          <p:cNvPr id="3" name="Group 3"/>
          <p:cNvGrpSpPr/>
          <p:nvPr/>
        </p:nvGrpSpPr>
        <p:grpSpPr>
          <a:xfrm>
            <a:off x="2737744" y="7521702"/>
            <a:ext cx="5448300" cy="1736598"/>
            <a:chOff x="0" y="0"/>
            <a:chExt cx="7264400" cy="2315464"/>
          </a:xfrm>
        </p:grpSpPr>
        <p:sp>
          <p:nvSpPr>
            <p:cNvPr id="4" name="TextBox 4"/>
            <p:cNvSpPr txBox="1"/>
            <p:nvPr/>
          </p:nvSpPr>
          <p:spPr>
            <a:xfrm>
              <a:off x="0" y="-38100"/>
              <a:ext cx="7264400" cy="566420"/>
            </a:xfrm>
            <a:prstGeom prst="rect">
              <a:avLst/>
            </a:prstGeom>
          </p:spPr>
          <p:txBody>
            <a:bodyPr lIns="0" tIns="0" rIns="0" bIns="0" rtlCol="0" anchor="t">
              <a:spAutoFit/>
            </a:bodyPr>
            <a:lstStyle/>
            <a:p>
              <a:pPr marL="0" lvl="0" indent="0" algn="l">
                <a:lnSpc>
                  <a:spcPts val="3359"/>
                </a:lnSpc>
                <a:spcBef>
                  <a:spcPct val="0"/>
                </a:spcBef>
              </a:pPr>
              <a:r>
                <a:rPr lang="en-US" sz="2400" b="1">
                  <a:solidFill>
                    <a:srgbClr val="D1D9E6"/>
                  </a:solidFill>
                  <a:latin typeface="Helvetica World Bold"/>
                  <a:ea typeface="Helvetica World Bold"/>
                  <a:cs typeface="Helvetica World Bold"/>
                  <a:sym typeface="Helvetica World Bold"/>
                </a:rPr>
                <a:t>Ne</a:t>
              </a:r>
              <a:r>
                <a:rPr lang="en-US" sz="2400" b="1" u="none" strike="noStrike">
                  <a:solidFill>
                    <a:srgbClr val="D1D9E6"/>
                  </a:solidFill>
                  <a:latin typeface="Helvetica World Bold"/>
                  <a:ea typeface="Helvetica World Bold"/>
                  <a:cs typeface="Helvetica World Bold"/>
                  <a:sym typeface="Helvetica World Bold"/>
                </a:rPr>
                <a:t>ural Network Design Architecture </a:t>
              </a:r>
            </a:p>
          </p:txBody>
        </p:sp>
        <p:sp>
          <p:nvSpPr>
            <p:cNvPr id="5" name="TextBox 5"/>
            <p:cNvSpPr txBox="1"/>
            <p:nvPr/>
          </p:nvSpPr>
          <p:spPr>
            <a:xfrm>
              <a:off x="0" y="744855"/>
              <a:ext cx="7264400" cy="1570609"/>
            </a:xfrm>
            <a:prstGeom prst="rect">
              <a:avLst/>
            </a:prstGeom>
          </p:spPr>
          <p:txBody>
            <a:bodyPr lIns="0" tIns="0" rIns="0" bIns="0" rtlCol="0" anchor="t">
              <a:spAutoFit/>
            </a:bodyPr>
            <a:lstStyle/>
            <a:p>
              <a:pPr marL="0" lvl="0" indent="0" algn="l">
                <a:lnSpc>
                  <a:spcPts val="3191"/>
                </a:lnSpc>
                <a:spcBef>
                  <a:spcPct val="0"/>
                </a:spcBef>
              </a:pPr>
              <a:r>
                <a:rPr lang="en-US" sz="2279" u="none" strike="noStrike">
                  <a:solidFill>
                    <a:srgbClr val="D1D9E6"/>
                  </a:solidFill>
                  <a:latin typeface="Helvetica World"/>
                  <a:ea typeface="Helvetica World"/>
                  <a:cs typeface="Helvetica World"/>
                  <a:sym typeface="Helvetica World"/>
                </a:rPr>
                <a:t>An ANN model is structured with input, hidden, and output layers to learn irrigation patterns.</a:t>
              </a:r>
            </a:p>
          </p:txBody>
        </p:sp>
      </p:grpSp>
      <p:sp>
        <p:nvSpPr>
          <p:cNvPr id="6" name="TextBox 6"/>
          <p:cNvSpPr txBox="1"/>
          <p:nvPr/>
        </p:nvSpPr>
        <p:spPr>
          <a:xfrm>
            <a:off x="10441886" y="7989570"/>
            <a:ext cx="585578" cy="434340"/>
          </a:xfrm>
          <a:prstGeom prst="rect">
            <a:avLst/>
          </a:prstGeom>
        </p:spPr>
        <p:txBody>
          <a:bodyPr lIns="0" tIns="0" rIns="0" bIns="0" rtlCol="0" anchor="t">
            <a:spAutoFit/>
          </a:bodyPr>
          <a:lstStyle/>
          <a:p>
            <a:pPr marL="0" lvl="0" indent="0" algn="l">
              <a:lnSpc>
                <a:spcPts val="3359"/>
              </a:lnSpc>
            </a:pPr>
            <a:r>
              <a:rPr lang="en-US" sz="2400" b="1">
                <a:solidFill>
                  <a:srgbClr val="D1D9E6"/>
                </a:solidFill>
                <a:latin typeface="Helvetica World Bold"/>
                <a:ea typeface="Helvetica World Bold"/>
                <a:cs typeface="Helvetica World Bold"/>
                <a:sym typeface="Helvetica World Bold"/>
              </a:rPr>
              <a:t>06</a:t>
            </a:r>
          </a:p>
        </p:txBody>
      </p:sp>
      <p:grpSp>
        <p:nvGrpSpPr>
          <p:cNvPr id="7" name="Group 7"/>
          <p:cNvGrpSpPr/>
          <p:nvPr/>
        </p:nvGrpSpPr>
        <p:grpSpPr>
          <a:xfrm>
            <a:off x="2737744" y="4876229"/>
            <a:ext cx="5448300" cy="1797558"/>
            <a:chOff x="0" y="0"/>
            <a:chExt cx="7264400" cy="2396744"/>
          </a:xfrm>
        </p:grpSpPr>
        <p:sp>
          <p:nvSpPr>
            <p:cNvPr id="8" name="TextBox 8"/>
            <p:cNvSpPr txBox="1"/>
            <p:nvPr/>
          </p:nvSpPr>
          <p:spPr>
            <a:xfrm>
              <a:off x="0" y="-38100"/>
              <a:ext cx="7264400" cy="566420"/>
            </a:xfrm>
            <a:prstGeom prst="rect">
              <a:avLst/>
            </a:prstGeom>
          </p:spPr>
          <p:txBody>
            <a:bodyPr lIns="0" tIns="0" rIns="0" bIns="0" rtlCol="0" anchor="t">
              <a:spAutoFit/>
            </a:bodyPr>
            <a:lstStyle/>
            <a:p>
              <a:pPr marL="0" lvl="0" indent="0" algn="l">
                <a:lnSpc>
                  <a:spcPts val="3359"/>
                </a:lnSpc>
                <a:spcBef>
                  <a:spcPct val="0"/>
                </a:spcBef>
              </a:pPr>
              <a:r>
                <a:rPr lang="en-US" sz="2400" b="1">
                  <a:solidFill>
                    <a:srgbClr val="D1D9E6"/>
                  </a:solidFill>
                  <a:latin typeface="Helvetica World Bold"/>
                  <a:ea typeface="Helvetica World Bold"/>
                  <a:cs typeface="Helvetica World Bold"/>
                  <a:sym typeface="Helvetica World Bold"/>
                </a:rPr>
                <a:t>Data Preprocessing</a:t>
              </a:r>
            </a:p>
          </p:txBody>
        </p:sp>
        <p:sp>
          <p:nvSpPr>
            <p:cNvPr id="9" name="TextBox 9"/>
            <p:cNvSpPr txBox="1"/>
            <p:nvPr/>
          </p:nvSpPr>
          <p:spPr>
            <a:xfrm>
              <a:off x="0" y="744855"/>
              <a:ext cx="7264400" cy="1651889"/>
            </a:xfrm>
            <a:prstGeom prst="rect">
              <a:avLst/>
            </a:prstGeom>
          </p:spPr>
          <p:txBody>
            <a:bodyPr lIns="0" tIns="0" rIns="0" bIns="0" rtlCol="0" anchor="t">
              <a:spAutoFit/>
            </a:bodyPr>
            <a:lstStyle/>
            <a:p>
              <a:pPr marL="0" lvl="0" indent="0" algn="l">
                <a:lnSpc>
                  <a:spcPts val="3191"/>
                </a:lnSpc>
                <a:spcBef>
                  <a:spcPct val="0"/>
                </a:spcBef>
              </a:pPr>
              <a:r>
                <a:rPr lang="en-US" sz="2279" b="1">
                  <a:solidFill>
                    <a:srgbClr val="D1D9E6"/>
                  </a:solidFill>
                  <a:latin typeface="Helvetica World Bold"/>
                  <a:ea typeface="Helvetica World Bold"/>
                  <a:cs typeface="Helvetica World Bold"/>
                  <a:sym typeface="Helvetica World Bold"/>
                </a:rPr>
                <a:t>Cleaning </a:t>
              </a:r>
              <a:r>
                <a:rPr lang="en-US" sz="2279">
                  <a:solidFill>
                    <a:srgbClr val="D1D9E6"/>
                  </a:solidFill>
                  <a:latin typeface="Helvetica World"/>
                  <a:ea typeface="Helvetica World"/>
                  <a:cs typeface="Helvetica World"/>
                  <a:sym typeface="Helvetica World"/>
                </a:rPr>
                <a:t>Data to remove noise and inconsistensies, and </a:t>
              </a:r>
              <a:r>
                <a:rPr lang="en-US" sz="2279" b="1">
                  <a:solidFill>
                    <a:srgbClr val="D1D9E6"/>
                  </a:solidFill>
                  <a:latin typeface="Helvetica World Bold"/>
                  <a:ea typeface="Helvetica World Bold"/>
                  <a:cs typeface="Helvetica World Bold"/>
                  <a:sym typeface="Helvetica World Bold"/>
                </a:rPr>
                <a:t>normalizing </a:t>
              </a:r>
              <a:r>
                <a:rPr lang="en-US" sz="2279">
                  <a:solidFill>
                    <a:srgbClr val="D1D9E6"/>
                  </a:solidFill>
                  <a:latin typeface="Helvetica World"/>
                  <a:ea typeface="Helvetica World"/>
                  <a:cs typeface="Helvetica World"/>
                  <a:sym typeface="Helvetica World"/>
                </a:rPr>
                <a:t>data for misssing or abnormal values</a:t>
              </a:r>
            </a:p>
          </p:txBody>
        </p:sp>
      </p:grpSp>
      <p:sp>
        <p:nvSpPr>
          <p:cNvPr id="10" name="TextBox 10"/>
          <p:cNvSpPr txBox="1"/>
          <p:nvPr/>
        </p:nvSpPr>
        <p:spPr>
          <a:xfrm>
            <a:off x="10441886" y="5105400"/>
            <a:ext cx="585578" cy="434340"/>
          </a:xfrm>
          <a:prstGeom prst="rect">
            <a:avLst/>
          </a:prstGeom>
        </p:spPr>
        <p:txBody>
          <a:bodyPr lIns="0" tIns="0" rIns="0" bIns="0" rtlCol="0" anchor="t">
            <a:spAutoFit/>
          </a:bodyPr>
          <a:lstStyle/>
          <a:p>
            <a:pPr marL="0" lvl="0" indent="0" algn="l">
              <a:lnSpc>
                <a:spcPts val="3359"/>
              </a:lnSpc>
            </a:pPr>
            <a:r>
              <a:rPr lang="en-US" sz="2400" b="1">
                <a:solidFill>
                  <a:srgbClr val="D1D9E6"/>
                </a:solidFill>
                <a:latin typeface="Helvetica World Bold"/>
                <a:ea typeface="Helvetica World Bold"/>
                <a:cs typeface="Helvetica World Bold"/>
                <a:sym typeface="Helvetica World Bold"/>
              </a:rPr>
              <a:t>05</a:t>
            </a:r>
          </a:p>
        </p:txBody>
      </p:sp>
      <p:grpSp>
        <p:nvGrpSpPr>
          <p:cNvPr id="11" name="Group 11"/>
          <p:cNvGrpSpPr/>
          <p:nvPr/>
        </p:nvGrpSpPr>
        <p:grpSpPr>
          <a:xfrm>
            <a:off x="11811000" y="2196846"/>
            <a:ext cx="5448300" cy="1736598"/>
            <a:chOff x="0" y="0"/>
            <a:chExt cx="7264400" cy="2315464"/>
          </a:xfrm>
        </p:grpSpPr>
        <p:sp>
          <p:nvSpPr>
            <p:cNvPr id="12" name="TextBox 12"/>
            <p:cNvSpPr txBox="1"/>
            <p:nvPr/>
          </p:nvSpPr>
          <p:spPr>
            <a:xfrm>
              <a:off x="0" y="744855"/>
              <a:ext cx="7264400" cy="1570609"/>
            </a:xfrm>
            <a:prstGeom prst="rect">
              <a:avLst/>
            </a:prstGeom>
          </p:spPr>
          <p:txBody>
            <a:bodyPr lIns="0" tIns="0" rIns="0" bIns="0" rtlCol="0" anchor="t">
              <a:spAutoFit/>
            </a:bodyPr>
            <a:lstStyle/>
            <a:p>
              <a:pPr marL="0" lvl="0" indent="0" algn="l">
                <a:lnSpc>
                  <a:spcPts val="3191"/>
                </a:lnSpc>
              </a:pPr>
              <a:r>
                <a:rPr lang="en-US" sz="2279">
                  <a:solidFill>
                    <a:srgbClr val="D1D9E6"/>
                  </a:solidFill>
                  <a:latin typeface="Helvetica World"/>
                  <a:ea typeface="Helvetica World"/>
                  <a:cs typeface="Helvetica World"/>
                  <a:sym typeface="Helvetica World"/>
                </a:rPr>
                <a:t>Inputs are passed through weighted neurons and activation functions to predict irrigation needs.</a:t>
              </a:r>
            </a:p>
          </p:txBody>
        </p:sp>
        <p:sp>
          <p:nvSpPr>
            <p:cNvPr id="13" name="TextBox 13"/>
            <p:cNvSpPr txBox="1"/>
            <p:nvPr/>
          </p:nvSpPr>
          <p:spPr>
            <a:xfrm>
              <a:off x="0" y="-38100"/>
              <a:ext cx="7264400" cy="566420"/>
            </a:xfrm>
            <a:prstGeom prst="rect">
              <a:avLst/>
            </a:prstGeom>
          </p:spPr>
          <p:txBody>
            <a:bodyPr lIns="0" tIns="0" rIns="0" bIns="0" rtlCol="0" anchor="t">
              <a:spAutoFit/>
            </a:bodyPr>
            <a:lstStyle/>
            <a:p>
              <a:pPr marL="0" lvl="0" indent="0" algn="l">
                <a:lnSpc>
                  <a:spcPts val="3359"/>
                </a:lnSpc>
                <a:spcBef>
                  <a:spcPct val="0"/>
                </a:spcBef>
              </a:pPr>
              <a:r>
                <a:rPr lang="en-US" sz="2400" b="1">
                  <a:solidFill>
                    <a:srgbClr val="D1D9E6"/>
                  </a:solidFill>
                  <a:latin typeface="Helvetica World Bold"/>
                  <a:ea typeface="Helvetica World Bold"/>
                  <a:cs typeface="Helvetica World Bold"/>
                  <a:sym typeface="Helvetica World Bold"/>
                </a:rPr>
                <a:t>F</a:t>
              </a:r>
              <a:r>
                <a:rPr lang="en-US" sz="2400" b="1" u="none" strike="noStrike">
                  <a:solidFill>
                    <a:srgbClr val="D1D9E6"/>
                  </a:solidFill>
                  <a:latin typeface="Helvetica World Bold"/>
                  <a:ea typeface="Helvetica World Bold"/>
                  <a:cs typeface="Helvetica World Bold"/>
                  <a:sym typeface="Helvetica World Bold"/>
                </a:rPr>
                <a:t>orward Propagation</a:t>
              </a:r>
            </a:p>
          </p:txBody>
        </p:sp>
      </p:grpSp>
      <p:sp>
        <p:nvSpPr>
          <p:cNvPr id="14" name="TextBox 14"/>
          <p:cNvSpPr txBox="1"/>
          <p:nvPr/>
        </p:nvSpPr>
        <p:spPr>
          <a:xfrm>
            <a:off x="10441886" y="2630805"/>
            <a:ext cx="585578" cy="434340"/>
          </a:xfrm>
          <a:prstGeom prst="rect">
            <a:avLst/>
          </a:prstGeom>
        </p:spPr>
        <p:txBody>
          <a:bodyPr lIns="0" tIns="0" rIns="0" bIns="0" rtlCol="0" anchor="t">
            <a:spAutoFit/>
          </a:bodyPr>
          <a:lstStyle/>
          <a:p>
            <a:pPr marL="0" lvl="0" indent="0" algn="l">
              <a:lnSpc>
                <a:spcPts val="3359"/>
              </a:lnSpc>
            </a:pPr>
            <a:r>
              <a:rPr lang="en-US" sz="2400" b="1">
                <a:solidFill>
                  <a:srgbClr val="D1D9E6"/>
                </a:solidFill>
                <a:latin typeface="Helvetica World Bold"/>
                <a:ea typeface="Helvetica World Bold"/>
                <a:cs typeface="Helvetica World Bold"/>
                <a:sym typeface="Helvetica World Bold"/>
              </a:rPr>
              <a:t>04</a:t>
            </a:r>
          </a:p>
        </p:txBody>
      </p:sp>
      <p:grpSp>
        <p:nvGrpSpPr>
          <p:cNvPr id="15" name="Group 15"/>
          <p:cNvGrpSpPr/>
          <p:nvPr/>
        </p:nvGrpSpPr>
        <p:grpSpPr>
          <a:xfrm>
            <a:off x="11811000" y="7521702"/>
            <a:ext cx="5448300" cy="1736598"/>
            <a:chOff x="0" y="0"/>
            <a:chExt cx="7264400" cy="2315464"/>
          </a:xfrm>
        </p:grpSpPr>
        <p:sp>
          <p:nvSpPr>
            <p:cNvPr id="16" name="TextBox 16"/>
            <p:cNvSpPr txBox="1"/>
            <p:nvPr/>
          </p:nvSpPr>
          <p:spPr>
            <a:xfrm>
              <a:off x="0" y="-38100"/>
              <a:ext cx="7264400" cy="566420"/>
            </a:xfrm>
            <a:prstGeom prst="rect">
              <a:avLst/>
            </a:prstGeom>
          </p:spPr>
          <p:txBody>
            <a:bodyPr lIns="0" tIns="0" rIns="0" bIns="0" rtlCol="0" anchor="t">
              <a:spAutoFit/>
            </a:bodyPr>
            <a:lstStyle/>
            <a:p>
              <a:pPr marL="0" lvl="0" indent="0" algn="l">
                <a:lnSpc>
                  <a:spcPts val="3359"/>
                </a:lnSpc>
                <a:spcBef>
                  <a:spcPct val="0"/>
                </a:spcBef>
              </a:pPr>
              <a:r>
                <a:rPr lang="en-US" sz="2400" b="1">
                  <a:solidFill>
                    <a:srgbClr val="D1D9E6"/>
                  </a:solidFill>
                  <a:latin typeface="Helvetica World Bold"/>
                  <a:ea typeface="Helvetica World Bold"/>
                  <a:cs typeface="Helvetica World Bold"/>
                  <a:sym typeface="Helvetica World Bold"/>
                </a:rPr>
                <a:t>Tes</a:t>
              </a:r>
              <a:r>
                <a:rPr lang="en-US" sz="2400" b="1" u="none" strike="noStrike">
                  <a:solidFill>
                    <a:srgbClr val="D1D9E6"/>
                  </a:solidFill>
                  <a:latin typeface="Helvetica World Bold"/>
                  <a:ea typeface="Helvetica World Bold"/>
                  <a:cs typeface="Helvetica World Bold"/>
                  <a:sym typeface="Helvetica World Bold"/>
                </a:rPr>
                <a:t>ting &amp; Evaluation</a:t>
              </a:r>
            </a:p>
          </p:txBody>
        </p:sp>
        <p:sp>
          <p:nvSpPr>
            <p:cNvPr id="17" name="TextBox 17"/>
            <p:cNvSpPr txBox="1"/>
            <p:nvPr/>
          </p:nvSpPr>
          <p:spPr>
            <a:xfrm>
              <a:off x="0" y="744855"/>
              <a:ext cx="7264400" cy="1570609"/>
            </a:xfrm>
            <a:prstGeom prst="rect">
              <a:avLst/>
            </a:prstGeom>
          </p:spPr>
          <p:txBody>
            <a:bodyPr lIns="0" tIns="0" rIns="0" bIns="0" rtlCol="0" anchor="t">
              <a:spAutoFit/>
            </a:bodyPr>
            <a:lstStyle/>
            <a:p>
              <a:pPr marL="0" lvl="0" indent="0" algn="l">
                <a:lnSpc>
                  <a:spcPts val="3191"/>
                </a:lnSpc>
                <a:spcBef>
                  <a:spcPct val="0"/>
                </a:spcBef>
              </a:pPr>
              <a:r>
                <a:rPr lang="en-US" sz="2279">
                  <a:solidFill>
                    <a:srgbClr val="D1D9E6"/>
                  </a:solidFill>
                  <a:latin typeface="Helvetica World"/>
                  <a:ea typeface="Helvetica World"/>
                  <a:cs typeface="Helvetica World"/>
                  <a:sym typeface="Helvetica World"/>
                </a:rPr>
                <a:t>The </a:t>
              </a:r>
              <a:r>
                <a:rPr lang="en-US" sz="2279" u="none" strike="noStrike">
                  <a:solidFill>
                    <a:srgbClr val="D1D9E6"/>
                  </a:solidFill>
                  <a:latin typeface="Helvetica World"/>
                  <a:ea typeface="Helvetica World"/>
                  <a:cs typeface="Helvetica World"/>
                  <a:sym typeface="Helvetica World"/>
                </a:rPr>
                <a:t>trained model is tested with new data to measure accuracy, water efficiency, and reliability.</a:t>
              </a:r>
            </a:p>
          </p:txBody>
        </p:sp>
      </p:grpSp>
      <p:sp>
        <p:nvSpPr>
          <p:cNvPr id="18" name="TextBox 18"/>
          <p:cNvSpPr txBox="1"/>
          <p:nvPr/>
        </p:nvSpPr>
        <p:spPr>
          <a:xfrm>
            <a:off x="1028700" y="7989570"/>
            <a:ext cx="585578" cy="434340"/>
          </a:xfrm>
          <a:prstGeom prst="rect">
            <a:avLst/>
          </a:prstGeom>
        </p:spPr>
        <p:txBody>
          <a:bodyPr lIns="0" tIns="0" rIns="0" bIns="0" rtlCol="0" anchor="t">
            <a:spAutoFit/>
          </a:bodyPr>
          <a:lstStyle/>
          <a:p>
            <a:pPr marL="0" lvl="0" indent="0" algn="l">
              <a:lnSpc>
                <a:spcPts val="3359"/>
              </a:lnSpc>
            </a:pPr>
            <a:r>
              <a:rPr lang="en-US" sz="2400" b="1">
                <a:solidFill>
                  <a:srgbClr val="D1D9E6"/>
                </a:solidFill>
                <a:latin typeface="Helvetica World Bold"/>
                <a:ea typeface="Helvetica World Bold"/>
                <a:cs typeface="Helvetica World Bold"/>
                <a:sym typeface="Helvetica World Bold"/>
              </a:rPr>
              <a:t>03</a:t>
            </a:r>
          </a:p>
        </p:txBody>
      </p:sp>
      <p:grpSp>
        <p:nvGrpSpPr>
          <p:cNvPr id="19" name="Group 19"/>
          <p:cNvGrpSpPr/>
          <p:nvPr/>
        </p:nvGrpSpPr>
        <p:grpSpPr>
          <a:xfrm>
            <a:off x="11811000" y="4876229"/>
            <a:ext cx="5448300" cy="1767078"/>
            <a:chOff x="0" y="0"/>
            <a:chExt cx="7264400" cy="2356104"/>
          </a:xfrm>
        </p:grpSpPr>
        <p:sp>
          <p:nvSpPr>
            <p:cNvPr id="20" name="TextBox 20"/>
            <p:cNvSpPr txBox="1"/>
            <p:nvPr/>
          </p:nvSpPr>
          <p:spPr>
            <a:xfrm>
              <a:off x="0" y="-38100"/>
              <a:ext cx="7264400" cy="566420"/>
            </a:xfrm>
            <a:prstGeom prst="rect">
              <a:avLst/>
            </a:prstGeom>
          </p:spPr>
          <p:txBody>
            <a:bodyPr lIns="0" tIns="0" rIns="0" bIns="0" rtlCol="0" anchor="t">
              <a:spAutoFit/>
            </a:bodyPr>
            <a:lstStyle/>
            <a:p>
              <a:pPr marL="0" lvl="0" indent="0" algn="l">
                <a:lnSpc>
                  <a:spcPts val="3359"/>
                </a:lnSpc>
                <a:spcBef>
                  <a:spcPct val="0"/>
                </a:spcBef>
              </a:pPr>
              <a:r>
                <a:rPr lang="en-US" sz="2400" b="1">
                  <a:solidFill>
                    <a:srgbClr val="D1D9E6"/>
                  </a:solidFill>
                  <a:latin typeface="Helvetica World Bold"/>
                  <a:ea typeface="Helvetica World Bold"/>
                  <a:cs typeface="Helvetica World Bold"/>
                  <a:sym typeface="Helvetica World Bold"/>
                </a:rPr>
                <a:t>Er</a:t>
              </a:r>
              <a:r>
                <a:rPr lang="en-US" sz="2400" b="1" u="none" strike="noStrike">
                  <a:solidFill>
                    <a:srgbClr val="D1D9E6"/>
                  </a:solidFill>
                  <a:latin typeface="Helvetica World Bold"/>
                  <a:ea typeface="Helvetica World Bold"/>
                  <a:cs typeface="Helvetica World Bold"/>
                  <a:sym typeface="Helvetica World Bold"/>
                </a:rPr>
                <a:t>ror Computation &amp; Training</a:t>
              </a:r>
            </a:p>
          </p:txBody>
        </p:sp>
        <p:sp>
          <p:nvSpPr>
            <p:cNvPr id="21" name="TextBox 21"/>
            <p:cNvSpPr txBox="1"/>
            <p:nvPr/>
          </p:nvSpPr>
          <p:spPr>
            <a:xfrm>
              <a:off x="0" y="744855"/>
              <a:ext cx="7264400" cy="1611249"/>
            </a:xfrm>
            <a:prstGeom prst="rect">
              <a:avLst/>
            </a:prstGeom>
          </p:spPr>
          <p:txBody>
            <a:bodyPr lIns="0" tIns="0" rIns="0" bIns="0" rtlCol="0" anchor="t">
              <a:spAutoFit/>
            </a:bodyPr>
            <a:lstStyle/>
            <a:p>
              <a:pPr marL="0" lvl="0" indent="0" algn="l">
                <a:lnSpc>
                  <a:spcPts val="3191"/>
                </a:lnSpc>
                <a:spcBef>
                  <a:spcPct val="0"/>
                </a:spcBef>
              </a:pPr>
              <a:r>
                <a:rPr lang="en-US" sz="2279" u="none" strike="noStrike">
                  <a:solidFill>
                    <a:srgbClr val="D1D9E6"/>
                  </a:solidFill>
                  <a:latin typeface="Helvetica World"/>
                  <a:ea typeface="Helvetica World"/>
                  <a:cs typeface="Helvetica World"/>
                  <a:sym typeface="Helvetica World"/>
                </a:rPr>
                <a:t>The network calculates output error and adjusts weights through </a:t>
              </a:r>
              <a:r>
                <a:rPr lang="en-US" sz="2279" b="1" u="none" strike="noStrike">
                  <a:solidFill>
                    <a:srgbClr val="D1D9E6"/>
                  </a:solidFill>
                  <a:latin typeface="Helvetica World Bold"/>
                  <a:ea typeface="Helvetica World Bold"/>
                  <a:cs typeface="Helvetica World Bold"/>
                  <a:sym typeface="Helvetica World Bold"/>
                </a:rPr>
                <a:t>backpropagation </a:t>
              </a:r>
              <a:r>
                <a:rPr lang="en-US" sz="2279" u="none" strike="noStrike">
                  <a:solidFill>
                    <a:srgbClr val="D1D9E6"/>
                  </a:solidFill>
                  <a:latin typeface="Helvetica World"/>
                  <a:ea typeface="Helvetica World"/>
                  <a:cs typeface="Helvetica World"/>
                  <a:sym typeface="Helvetica World"/>
                </a:rPr>
                <a:t>to improve accuracy.</a:t>
              </a:r>
            </a:p>
          </p:txBody>
        </p:sp>
      </p:grpSp>
      <p:sp>
        <p:nvSpPr>
          <p:cNvPr id="22" name="TextBox 22"/>
          <p:cNvSpPr txBox="1"/>
          <p:nvPr/>
        </p:nvSpPr>
        <p:spPr>
          <a:xfrm>
            <a:off x="1028700" y="5105400"/>
            <a:ext cx="585578" cy="434340"/>
          </a:xfrm>
          <a:prstGeom prst="rect">
            <a:avLst/>
          </a:prstGeom>
        </p:spPr>
        <p:txBody>
          <a:bodyPr lIns="0" tIns="0" rIns="0" bIns="0" rtlCol="0" anchor="t">
            <a:spAutoFit/>
          </a:bodyPr>
          <a:lstStyle/>
          <a:p>
            <a:pPr marL="0" lvl="0" indent="0" algn="l">
              <a:lnSpc>
                <a:spcPts val="3359"/>
              </a:lnSpc>
            </a:pPr>
            <a:r>
              <a:rPr lang="en-US" sz="2400" b="1">
                <a:solidFill>
                  <a:srgbClr val="D1D9E6"/>
                </a:solidFill>
                <a:latin typeface="Helvetica World Bold"/>
                <a:ea typeface="Helvetica World Bold"/>
                <a:cs typeface="Helvetica World Bold"/>
                <a:sym typeface="Helvetica World Bold"/>
              </a:rPr>
              <a:t>02</a:t>
            </a:r>
          </a:p>
        </p:txBody>
      </p:sp>
      <p:grpSp>
        <p:nvGrpSpPr>
          <p:cNvPr id="23" name="Group 23"/>
          <p:cNvGrpSpPr/>
          <p:nvPr/>
        </p:nvGrpSpPr>
        <p:grpSpPr>
          <a:xfrm>
            <a:off x="2737744" y="2566416"/>
            <a:ext cx="5448300" cy="1367028"/>
            <a:chOff x="0" y="0"/>
            <a:chExt cx="7264400" cy="1822704"/>
          </a:xfrm>
        </p:grpSpPr>
        <p:sp>
          <p:nvSpPr>
            <p:cNvPr id="24" name="TextBox 24"/>
            <p:cNvSpPr txBox="1"/>
            <p:nvPr/>
          </p:nvSpPr>
          <p:spPr>
            <a:xfrm>
              <a:off x="0" y="744855"/>
              <a:ext cx="7264400" cy="1077849"/>
            </a:xfrm>
            <a:prstGeom prst="rect">
              <a:avLst/>
            </a:prstGeom>
          </p:spPr>
          <p:txBody>
            <a:bodyPr lIns="0" tIns="0" rIns="0" bIns="0" rtlCol="0" anchor="t">
              <a:spAutoFit/>
            </a:bodyPr>
            <a:lstStyle/>
            <a:p>
              <a:pPr marL="0" lvl="0" indent="0" algn="l">
                <a:lnSpc>
                  <a:spcPts val="3191"/>
                </a:lnSpc>
              </a:pPr>
              <a:r>
                <a:rPr lang="en-US" sz="2279">
                  <a:solidFill>
                    <a:srgbClr val="D1D9E6"/>
                  </a:solidFill>
                  <a:latin typeface="Helvetica World"/>
                  <a:ea typeface="Helvetica World"/>
                  <a:cs typeface="Helvetica World"/>
                  <a:sym typeface="Helvetica World"/>
                </a:rPr>
                <a:t>Using </a:t>
              </a:r>
              <a:r>
                <a:rPr lang="en-US" sz="2279" b="1">
                  <a:solidFill>
                    <a:srgbClr val="D1D9E6"/>
                  </a:solidFill>
                  <a:latin typeface="Helvetica World Bold"/>
                  <a:ea typeface="Helvetica World Bold"/>
                  <a:cs typeface="Helvetica World Bold"/>
                  <a:sym typeface="Helvetica World Bold"/>
                </a:rPr>
                <a:t>Sensors </a:t>
              </a:r>
              <a:r>
                <a:rPr lang="en-US" sz="2279">
                  <a:solidFill>
                    <a:srgbClr val="D1D9E6"/>
                  </a:solidFill>
                  <a:latin typeface="Helvetica World"/>
                  <a:ea typeface="Helvetica World"/>
                  <a:cs typeface="Helvetica World"/>
                  <a:sym typeface="Helvetica World"/>
                </a:rPr>
                <a:t>placed in fields to collect data like soil moisture and temperature</a:t>
              </a:r>
            </a:p>
          </p:txBody>
        </p:sp>
        <p:sp>
          <p:nvSpPr>
            <p:cNvPr id="25" name="TextBox 25"/>
            <p:cNvSpPr txBox="1"/>
            <p:nvPr/>
          </p:nvSpPr>
          <p:spPr>
            <a:xfrm>
              <a:off x="0" y="-38100"/>
              <a:ext cx="7264400" cy="566420"/>
            </a:xfrm>
            <a:prstGeom prst="rect">
              <a:avLst/>
            </a:prstGeom>
          </p:spPr>
          <p:txBody>
            <a:bodyPr lIns="0" tIns="0" rIns="0" bIns="0" rtlCol="0" anchor="t">
              <a:spAutoFit/>
            </a:bodyPr>
            <a:lstStyle/>
            <a:p>
              <a:pPr marL="0" lvl="0" indent="0" algn="l">
                <a:lnSpc>
                  <a:spcPts val="3359"/>
                </a:lnSpc>
                <a:spcBef>
                  <a:spcPct val="0"/>
                </a:spcBef>
              </a:pPr>
              <a:r>
                <a:rPr lang="en-US" sz="2400" b="1">
                  <a:solidFill>
                    <a:srgbClr val="D1D9E6"/>
                  </a:solidFill>
                  <a:latin typeface="Helvetica World Bold"/>
                  <a:ea typeface="Helvetica World Bold"/>
                  <a:cs typeface="Helvetica World Bold"/>
                  <a:sym typeface="Helvetica World Bold"/>
                </a:rPr>
                <a:t>Data Collection</a:t>
              </a:r>
            </a:p>
          </p:txBody>
        </p:sp>
      </p:grpSp>
      <p:sp>
        <p:nvSpPr>
          <p:cNvPr id="26" name="TextBox 26"/>
          <p:cNvSpPr txBox="1"/>
          <p:nvPr/>
        </p:nvSpPr>
        <p:spPr>
          <a:xfrm>
            <a:off x="1028700" y="2630805"/>
            <a:ext cx="585578" cy="434340"/>
          </a:xfrm>
          <a:prstGeom prst="rect">
            <a:avLst/>
          </a:prstGeom>
        </p:spPr>
        <p:txBody>
          <a:bodyPr lIns="0" tIns="0" rIns="0" bIns="0" rtlCol="0" anchor="t">
            <a:spAutoFit/>
          </a:bodyPr>
          <a:lstStyle/>
          <a:p>
            <a:pPr marL="0" lvl="0" indent="0" algn="l">
              <a:lnSpc>
                <a:spcPts val="3359"/>
              </a:lnSpc>
            </a:pPr>
            <a:r>
              <a:rPr lang="en-US" sz="2400" b="1">
                <a:solidFill>
                  <a:srgbClr val="D1D9E6"/>
                </a:solidFill>
                <a:latin typeface="Helvetica World Bold"/>
                <a:ea typeface="Helvetica World Bold"/>
                <a:cs typeface="Helvetica World Bold"/>
                <a:sym typeface="Helvetica World Bold"/>
              </a:rPr>
              <a:t>01</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A3A4A"/>
        </a:solidFill>
        <a:effectLst/>
      </p:bgPr>
    </p:bg>
    <p:spTree>
      <p:nvGrpSpPr>
        <p:cNvPr id="1" name=""/>
        <p:cNvGrpSpPr/>
        <p:nvPr/>
      </p:nvGrpSpPr>
      <p:grpSpPr>
        <a:xfrm>
          <a:off x="0" y="0"/>
          <a:ext cx="0" cy="0"/>
          <a:chOff x="0" y="0"/>
          <a:chExt cx="0" cy="0"/>
        </a:xfrm>
      </p:grpSpPr>
      <p:grpSp>
        <p:nvGrpSpPr>
          <p:cNvPr id="5" name="Group 5"/>
          <p:cNvGrpSpPr/>
          <p:nvPr/>
        </p:nvGrpSpPr>
        <p:grpSpPr>
          <a:xfrm>
            <a:off x="9296400" y="666750"/>
            <a:ext cx="7191375" cy="7658100"/>
            <a:chOff x="0" y="0"/>
            <a:chExt cx="9588500" cy="10210800"/>
          </a:xfrm>
        </p:grpSpPr>
        <p:sp>
          <p:nvSpPr>
            <p:cNvPr id="6" name="TextBox 6"/>
            <p:cNvSpPr txBox="1"/>
            <p:nvPr/>
          </p:nvSpPr>
          <p:spPr>
            <a:xfrm>
              <a:off x="0" y="76200"/>
              <a:ext cx="9588500" cy="1462193"/>
            </a:xfrm>
            <a:prstGeom prst="rect">
              <a:avLst/>
            </a:prstGeom>
          </p:spPr>
          <p:txBody>
            <a:bodyPr lIns="0" tIns="0" rIns="0" bIns="0" rtlCol="0" anchor="t">
              <a:spAutoFit/>
            </a:bodyPr>
            <a:lstStyle/>
            <a:p>
              <a:pPr marL="0" lvl="0" indent="0" algn="l">
                <a:lnSpc>
                  <a:spcPts val="8359"/>
                </a:lnSpc>
              </a:pPr>
              <a:r>
                <a:rPr lang="en-US" sz="7599" b="1" spc="-189">
                  <a:solidFill>
                    <a:srgbClr val="D1D9E6"/>
                  </a:solidFill>
                  <a:latin typeface="Garet Bold"/>
                  <a:ea typeface="Garet Bold"/>
                  <a:cs typeface="Garet Bold"/>
                  <a:sym typeface="Garet Bold"/>
                </a:rPr>
                <a:t>Description </a:t>
              </a:r>
            </a:p>
          </p:txBody>
        </p:sp>
        <p:sp>
          <p:nvSpPr>
            <p:cNvPr id="7" name="TextBox 7"/>
            <p:cNvSpPr txBox="1"/>
            <p:nvPr/>
          </p:nvSpPr>
          <p:spPr>
            <a:xfrm>
              <a:off x="0" y="2323676"/>
              <a:ext cx="9588500" cy="7887124"/>
            </a:xfrm>
            <a:prstGeom prst="rect">
              <a:avLst/>
            </a:prstGeom>
          </p:spPr>
          <p:txBody>
            <a:bodyPr lIns="0" tIns="0" rIns="0" bIns="0" rtlCol="0" anchor="t">
              <a:spAutoFit/>
            </a:bodyPr>
            <a:lstStyle/>
            <a:p>
              <a:pPr marL="0" lvl="0" indent="0" algn="l">
                <a:lnSpc>
                  <a:spcPts val="3919"/>
                </a:lnSpc>
              </a:pPr>
              <a:r>
                <a:rPr lang="en-US" sz="2799">
                  <a:solidFill>
                    <a:srgbClr val="D1D9E6"/>
                  </a:solidFill>
                  <a:latin typeface="Helvetica World"/>
                  <a:ea typeface="Helvetica World"/>
                  <a:cs typeface="Helvetica World"/>
                  <a:sym typeface="Helvetica World"/>
                </a:rPr>
                <a:t>The neural network for the smart irrigation system is designed to predict when and how much to irrigate based on inputs like soil moisture, temperature, humidity, rainfall, and sunlight. The collected sensor data is preprocessed and fed into a feedforward neural network with two hidden layers using ReLU activation function and an output layer using sigmoid. The model is trained using backpropagation, then evaluated for accuracy before being deployed to automate irrigation based on real-time conditions.</a:t>
              </a:r>
            </a:p>
          </p:txBody>
        </p:sp>
      </p:grpSp>
      <p:grpSp>
        <p:nvGrpSpPr>
          <p:cNvPr id="8" name="Group 8"/>
          <p:cNvGrpSpPr/>
          <p:nvPr/>
        </p:nvGrpSpPr>
        <p:grpSpPr>
          <a:xfrm>
            <a:off x="533400" y="992402"/>
            <a:ext cx="8302229" cy="8302196"/>
            <a:chOff x="0" y="0"/>
            <a:chExt cx="11069639" cy="11069594"/>
          </a:xfrm>
        </p:grpSpPr>
        <p:grpSp>
          <p:nvGrpSpPr>
            <p:cNvPr id="9" name="Group 9"/>
            <p:cNvGrpSpPr>
              <a:grpSpLocks noChangeAspect="1"/>
            </p:cNvGrpSpPr>
            <p:nvPr/>
          </p:nvGrpSpPr>
          <p:grpSpPr>
            <a:xfrm>
              <a:off x="0" y="0"/>
              <a:ext cx="11069639" cy="11069594"/>
              <a:chOff x="0" y="0"/>
              <a:chExt cx="6350000" cy="6349975"/>
            </a:xfrm>
          </p:grpSpPr>
          <p:sp>
            <p:nvSpPr>
              <p:cNvPr id="10" name="Freeform 1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87A0C3"/>
              </a:solidFill>
              <a:ln w="12700">
                <a:solidFill>
                  <a:srgbClr val="000000"/>
                </a:solidFill>
              </a:ln>
            </p:spPr>
          </p:sp>
        </p:grpSp>
        <p:grpSp>
          <p:nvGrpSpPr>
            <p:cNvPr id="11" name="Group 11"/>
            <p:cNvGrpSpPr/>
            <p:nvPr/>
          </p:nvGrpSpPr>
          <p:grpSpPr>
            <a:xfrm>
              <a:off x="943769" y="943747"/>
              <a:ext cx="9182100" cy="918210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sp>
        </p:grpSp>
      </p:gr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A3A4A"/>
        </a:solidFill>
        <a:effectLst/>
      </p:bgPr>
    </p:bg>
    <p:spTree>
      <p:nvGrpSpPr>
        <p:cNvPr id="1" name=""/>
        <p:cNvGrpSpPr/>
        <p:nvPr/>
      </p:nvGrpSpPr>
      <p:grpSpPr>
        <a:xfrm>
          <a:off x="0" y="0"/>
          <a:ext cx="0" cy="0"/>
          <a:chOff x="0" y="0"/>
          <a:chExt cx="0" cy="0"/>
        </a:xfrm>
      </p:grpSpPr>
      <p:grpSp>
        <p:nvGrpSpPr>
          <p:cNvPr id="5" name="Group 5"/>
          <p:cNvGrpSpPr/>
          <p:nvPr/>
        </p:nvGrpSpPr>
        <p:grpSpPr>
          <a:xfrm>
            <a:off x="9086985" y="1028700"/>
            <a:ext cx="8172315" cy="8229600"/>
            <a:chOff x="0" y="0"/>
            <a:chExt cx="10896420" cy="10972800"/>
          </a:xfrm>
        </p:grpSpPr>
        <p:sp>
          <p:nvSpPr>
            <p:cNvPr id="6" name="TextBox 6"/>
            <p:cNvSpPr txBox="1"/>
            <p:nvPr/>
          </p:nvSpPr>
          <p:spPr>
            <a:xfrm>
              <a:off x="0" y="66675"/>
              <a:ext cx="10896420" cy="1521976"/>
            </a:xfrm>
            <a:prstGeom prst="rect">
              <a:avLst/>
            </a:prstGeom>
          </p:spPr>
          <p:txBody>
            <a:bodyPr lIns="0" tIns="0" rIns="0" bIns="0" rtlCol="0" anchor="t">
              <a:spAutoFit/>
            </a:bodyPr>
            <a:lstStyle/>
            <a:p>
              <a:pPr marL="0" lvl="0" indent="0" algn="l">
                <a:lnSpc>
                  <a:spcPts val="8633"/>
                </a:lnSpc>
              </a:pPr>
              <a:r>
                <a:rPr lang="en-US" sz="7848" b="1" spc="-196">
                  <a:solidFill>
                    <a:srgbClr val="D1D9E6"/>
                  </a:solidFill>
                  <a:latin typeface="Garet Bold"/>
                  <a:ea typeface="Garet Bold"/>
                  <a:cs typeface="Garet Bold"/>
                  <a:sym typeface="Garet Bold"/>
                </a:rPr>
                <a:t>Result</a:t>
              </a:r>
            </a:p>
          </p:txBody>
        </p:sp>
        <p:sp>
          <p:nvSpPr>
            <p:cNvPr id="7" name="TextBox 7"/>
            <p:cNvSpPr txBox="1"/>
            <p:nvPr/>
          </p:nvSpPr>
          <p:spPr>
            <a:xfrm>
              <a:off x="0" y="2401456"/>
              <a:ext cx="10896420" cy="8571344"/>
            </a:xfrm>
            <a:prstGeom prst="rect">
              <a:avLst/>
            </a:prstGeom>
          </p:spPr>
          <p:txBody>
            <a:bodyPr lIns="0" tIns="0" rIns="0" bIns="0" rtlCol="0" anchor="t">
              <a:spAutoFit/>
            </a:bodyPr>
            <a:lstStyle/>
            <a:p>
              <a:pPr marL="624267" lvl="1" indent="-312134" algn="l">
                <a:lnSpc>
                  <a:spcPts val="4048"/>
                </a:lnSpc>
                <a:buFont typeface="Arial"/>
                <a:buChar char="•"/>
              </a:pPr>
              <a:r>
                <a:rPr lang="en-US" sz="2891">
                  <a:solidFill>
                    <a:srgbClr val="D1D9E6"/>
                  </a:solidFill>
                  <a:latin typeface="Helvetica World"/>
                  <a:ea typeface="Helvetica World"/>
                  <a:cs typeface="Helvetica World"/>
                  <a:sym typeface="Helvetica World"/>
                </a:rPr>
                <a:t>The system efficiently monitored soil moisture, temperature, and humidity in real time.</a:t>
              </a:r>
            </a:p>
            <a:p>
              <a:pPr marL="624267" lvl="1" indent="-312134" algn="l">
                <a:lnSpc>
                  <a:spcPts val="4048"/>
                </a:lnSpc>
                <a:buFont typeface="Arial"/>
                <a:buChar char="•"/>
              </a:pPr>
              <a:r>
                <a:rPr lang="en-US" sz="2891">
                  <a:solidFill>
                    <a:srgbClr val="D1D9E6"/>
                  </a:solidFill>
                  <a:latin typeface="Helvetica World"/>
                  <a:ea typeface="Helvetica World"/>
                  <a:cs typeface="Helvetica World"/>
                  <a:sym typeface="Helvetica World"/>
                </a:rPr>
                <a:t>Automatic irrigation was triggered only when soil moisture dropped below the optimal level.</a:t>
              </a:r>
            </a:p>
            <a:p>
              <a:pPr marL="624267" lvl="1" indent="-312134" algn="l">
                <a:lnSpc>
                  <a:spcPts val="4048"/>
                </a:lnSpc>
                <a:buFont typeface="Arial"/>
                <a:buChar char="•"/>
              </a:pPr>
              <a:r>
                <a:rPr lang="en-US" sz="2891">
                  <a:solidFill>
                    <a:srgbClr val="D1D9E6"/>
                  </a:solidFill>
                  <a:latin typeface="Helvetica World"/>
                  <a:ea typeface="Helvetica World"/>
                  <a:cs typeface="Helvetica World"/>
                  <a:sym typeface="Helvetica World"/>
                </a:rPr>
                <a:t>Water usage was reduced by approximately 40–50% compared to traditional irrigation methods.</a:t>
              </a:r>
            </a:p>
            <a:p>
              <a:pPr marL="624267" lvl="1" indent="-312134" algn="l">
                <a:lnSpc>
                  <a:spcPts val="4048"/>
                </a:lnSpc>
                <a:buFont typeface="Arial"/>
                <a:buChar char="•"/>
              </a:pPr>
              <a:r>
                <a:rPr lang="en-US" sz="2891">
                  <a:solidFill>
                    <a:srgbClr val="D1D9E6"/>
                  </a:solidFill>
                  <a:latin typeface="Helvetica World"/>
                  <a:ea typeface="Helvetica World"/>
                  <a:cs typeface="Helvetica World"/>
                  <a:sym typeface="Helvetica World"/>
                </a:rPr>
                <a:t>Crop growth and soil health improved due to consistent moisture control.</a:t>
              </a:r>
            </a:p>
            <a:p>
              <a:pPr marL="624267" lvl="1" indent="-312134" algn="l">
                <a:lnSpc>
                  <a:spcPts val="4048"/>
                </a:lnSpc>
                <a:buFont typeface="Arial"/>
                <a:buChar char="•"/>
              </a:pPr>
              <a:r>
                <a:rPr lang="en-US" sz="2891">
                  <a:solidFill>
                    <a:srgbClr val="D1D9E6"/>
                  </a:solidFill>
                  <a:latin typeface="Helvetica World"/>
                  <a:ea typeface="Helvetica World"/>
                  <a:cs typeface="Helvetica World"/>
                  <a:sym typeface="Helvetica World"/>
                </a:rPr>
                <a:t>Manual intervention and labor costs were significantly minimized.</a:t>
              </a:r>
            </a:p>
            <a:p>
              <a:pPr algn="l">
                <a:lnSpc>
                  <a:spcPts val="3325"/>
                </a:lnSpc>
              </a:pPr>
              <a:endParaRPr lang="en-US" sz="2891">
                <a:solidFill>
                  <a:srgbClr val="D1D9E6"/>
                </a:solidFill>
                <a:latin typeface="Helvetica World"/>
                <a:ea typeface="Helvetica World"/>
                <a:cs typeface="Helvetica World"/>
                <a:sym typeface="Helvetica World"/>
              </a:endParaRPr>
            </a:p>
            <a:p>
              <a:pPr algn="l">
                <a:lnSpc>
                  <a:spcPts val="3325"/>
                </a:lnSpc>
              </a:pPr>
              <a:endParaRPr lang="en-US" sz="2891">
                <a:solidFill>
                  <a:srgbClr val="D1D9E6"/>
                </a:solidFill>
                <a:latin typeface="Helvetica World"/>
                <a:ea typeface="Helvetica World"/>
                <a:cs typeface="Helvetica World"/>
                <a:sym typeface="Helvetica World"/>
              </a:endParaRPr>
            </a:p>
          </p:txBody>
        </p:sp>
      </p:grpSp>
      <p:grpSp>
        <p:nvGrpSpPr>
          <p:cNvPr id="8" name="Group 8"/>
          <p:cNvGrpSpPr/>
          <p:nvPr/>
        </p:nvGrpSpPr>
        <p:grpSpPr>
          <a:xfrm>
            <a:off x="533400" y="992402"/>
            <a:ext cx="8302229" cy="8302196"/>
            <a:chOff x="0" y="0"/>
            <a:chExt cx="11069639" cy="11069594"/>
          </a:xfrm>
        </p:grpSpPr>
        <p:grpSp>
          <p:nvGrpSpPr>
            <p:cNvPr id="9" name="Group 9"/>
            <p:cNvGrpSpPr>
              <a:grpSpLocks noChangeAspect="1"/>
            </p:cNvGrpSpPr>
            <p:nvPr/>
          </p:nvGrpSpPr>
          <p:grpSpPr>
            <a:xfrm>
              <a:off x="0" y="0"/>
              <a:ext cx="11069639" cy="11069594"/>
              <a:chOff x="0" y="0"/>
              <a:chExt cx="6350000" cy="6349975"/>
            </a:xfrm>
          </p:grpSpPr>
          <p:sp>
            <p:nvSpPr>
              <p:cNvPr id="10" name="Freeform 1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87A0C3"/>
              </a:solidFill>
              <a:ln w="12700">
                <a:solidFill>
                  <a:srgbClr val="000000"/>
                </a:solidFill>
              </a:ln>
            </p:spPr>
          </p:sp>
        </p:grpSp>
        <p:grpSp>
          <p:nvGrpSpPr>
            <p:cNvPr id="11" name="Group 11"/>
            <p:cNvGrpSpPr/>
            <p:nvPr/>
          </p:nvGrpSpPr>
          <p:grpSpPr>
            <a:xfrm>
              <a:off x="943769" y="943747"/>
              <a:ext cx="9182100" cy="918210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sp>
        </p:grpSp>
      </p:gr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A3A4A"/>
        </a:solidFill>
        <a:effectLst/>
      </p:bgPr>
    </p:bg>
    <p:spTree>
      <p:nvGrpSpPr>
        <p:cNvPr id="1" name=""/>
        <p:cNvGrpSpPr/>
        <p:nvPr/>
      </p:nvGrpSpPr>
      <p:grpSpPr>
        <a:xfrm>
          <a:off x="0" y="0"/>
          <a:ext cx="0" cy="0"/>
          <a:chOff x="0" y="0"/>
          <a:chExt cx="0" cy="0"/>
        </a:xfrm>
      </p:grpSpPr>
      <p:grpSp>
        <p:nvGrpSpPr>
          <p:cNvPr id="2" name="Group 2"/>
          <p:cNvGrpSpPr/>
          <p:nvPr/>
        </p:nvGrpSpPr>
        <p:grpSpPr>
          <a:xfrm>
            <a:off x="1299430" y="3352800"/>
            <a:ext cx="4487740" cy="2686050"/>
            <a:chOff x="0" y="0"/>
            <a:chExt cx="1181956" cy="707437"/>
          </a:xfrm>
        </p:grpSpPr>
        <p:sp>
          <p:nvSpPr>
            <p:cNvPr id="3" name="Freeform 3"/>
            <p:cNvSpPr/>
            <p:nvPr/>
          </p:nvSpPr>
          <p:spPr>
            <a:xfrm>
              <a:off x="0" y="0"/>
              <a:ext cx="1181956" cy="707437"/>
            </a:xfrm>
            <a:custGeom>
              <a:avLst/>
              <a:gdLst/>
              <a:ahLst/>
              <a:cxnLst/>
              <a:rect l="l" t="t" r="r" b="b"/>
              <a:pathLst>
                <a:path w="1181956" h="707437">
                  <a:moveTo>
                    <a:pt x="77631" y="0"/>
                  </a:moveTo>
                  <a:lnTo>
                    <a:pt x="1104326" y="0"/>
                  </a:lnTo>
                  <a:cubicBezTo>
                    <a:pt x="1147200" y="0"/>
                    <a:pt x="1181956" y="34756"/>
                    <a:pt x="1181956" y="77631"/>
                  </a:cubicBezTo>
                  <a:lnTo>
                    <a:pt x="1181956" y="629806"/>
                  </a:lnTo>
                  <a:cubicBezTo>
                    <a:pt x="1181956" y="672681"/>
                    <a:pt x="1147200" y="707437"/>
                    <a:pt x="1104326" y="707437"/>
                  </a:cubicBezTo>
                  <a:lnTo>
                    <a:pt x="77631" y="707437"/>
                  </a:lnTo>
                  <a:cubicBezTo>
                    <a:pt x="34756" y="707437"/>
                    <a:pt x="0" y="672681"/>
                    <a:pt x="0" y="629806"/>
                  </a:cubicBezTo>
                  <a:lnTo>
                    <a:pt x="0" y="77631"/>
                  </a:lnTo>
                  <a:cubicBezTo>
                    <a:pt x="0" y="34756"/>
                    <a:pt x="34756" y="0"/>
                    <a:pt x="77631" y="0"/>
                  </a:cubicBezTo>
                  <a:close/>
                </a:path>
              </a:pathLst>
            </a:custGeom>
            <a:solidFill>
              <a:srgbClr val="D1D9E6"/>
            </a:solidFill>
            <a:ln cap="rnd">
              <a:noFill/>
              <a:prstDash val="solid"/>
              <a:round/>
            </a:ln>
          </p:spPr>
        </p:sp>
        <p:sp>
          <p:nvSpPr>
            <p:cNvPr id="4" name="TextBox 4"/>
            <p:cNvSpPr txBox="1"/>
            <p:nvPr/>
          </p:nvSpPr>
          <p:spPr>
            <a:xfrm>
              <a:off x="0" y="76200"/>
              <a:ext cx="1181956" cy="631237"/>
            </a:xfrm>
            <a:prstGeom prst="rect">
              <a:avLst/>
            </a:prstGeom>
          </p:spPr>
          <p:txBody>
            <a:bodyPr lIns="50800" tIns="50800" rIns="50800" bIns="50800" rtlCol="0" anchor="ctr"/>
            <a:lstStyle/>
            <a:p>
              <a:pPr marL="0" lvl="0" indent="0" algn="ctr">
                <a:lnSpc>
                  <a:spcPts val="8359"/>
                </a:lnSpc>
                <a:spcBef>
                  <a:spcPct val="0"/>
                </a:spcBef>
              </a:pPr>
              <a:endParaRPr/>
            </a:p>
          </p:txBody>
        </p:sp>
      </p:grpSp>
      <p:sp>
        <p:nvSpPr>
          <p:cNvPr id="5" name="TextBox 5"/>
          <p:cNvSpPr txBox="1"/>
          <p:nvPr/>
        </p:nvSpPr>
        <p:spPr>
          <a:xfrm>
            <a:off x="1660325" y="4723765"/>
            <a:ext cx="3765949" cy="1077595"/>
          </a:xfrm>
          <a:prstGeom prst="rect">
            <a:avLst/>
          </a:prstGeom>
        </p:spPr>
        <p:txBody>
          <a:bodyPr lIns="0" tIns="0" rIns="0" bIns="0" rtlCol="0" anchor="t">
            <a:spAutoFit/>
          </a:bodyPr>
          <a:lstStyle/>
          <a:p>
            <a:pPr marL="0" lvl="0" indent="0" algn="ctr">
              <a:lnSpc>
                <a:spcPts val="8359"/>
              </a:lnSpc>
            </a:pPr>
            <a:r>
              <a:rPr lang="en-US" sz="7599" b="1" spc="-189">
                <a:solidFill>
                  <a:srgbClr val="87A0C3"/>
                </a:solidFill>
                <a:latin typeface="Garet Bold"/>
                <a:ea typeface="Garet Bold"/>
                <a:cs typeface="Garet Bold"/>
                <a:sym typeface="Garet Bold"/>
              </a:rPr>
              <a:t>30%</a:t>
            </a:r>
          </a:p>
        </p:txBody>
      </p:sp>
      <p:grpSp>
        <p:nvGrpSpPr>
          <p:cNvPr id="6" name="Group 6"/>
          <p:cNvGrpSpPr/>
          <p:nvPr/>
        </p:nvGrpSpPr>
        <p:grpSpPr>
          <a:xfrm>
            <a:off x="6900130" y="3352800"/>
            <a:ext cx="4487740" cy="2686050"/>
            <a:chOff x="0" y="0"/>
            <a:chExt cx="1181956" cy="707437"/>
          </a:xfrm>
        </p:grpSpPr>
        <p:sp>
          <p:nvSpPr>
            <p:cNvPr id="7" name="Freeform 7"/>
            <p:cNvSpPr/>
            <p:nvPr/>
          </p:nvSpPr>
          <p:spPr>
            <a:xfrm>
              <a:off x="0" y="0"/>
              <a:ext cx="1181956" cy="707437"/>
            </a:xfrm>
            <a:custGeom>
              <a:avLst/>
              <a:gdLst/>
              <a:ahLst/>
              <a:cxnLst/>
              <a:rect l="l" t="t" r="r" b="b"/>
              <a:pathLst>
                <a:path w="1181956" h="707437">
                  <a:moveTo>
                    <a:pt x="77631" y="0"/>
                  </a:moveTo>
                  <a:lnTo>
                    <a:pt x="1104326" y="0"/>
                  </a:lnTo>
                  <a:cubicBezTo>
                    <a:pt x="1147200" y="0"/>
                    <a:pt x="1181956" y="34756"/>
                    <a:pt x="1181956" y="77631"/>
                  </a:cubicBezTo>
                  <a:lnTo>
                    <a:pt x="1181956" y="629806"/>
                  </a:lnTo>
                  <a:cubicBezTo>
                    <a:pt x="1181956" y="672681"/>
                    <a:pt x="1147200" y="707437"/>
                    <a:pt x="1104326" y="707437"/>
                  </a:cubicBezTo>
                  <a:lnTo>
                    <a:pt x="77631" y="707437"/>
                  </a:lnTo>
                  <a:cubicBezTo>
                    <a:pt x="34756" y="707437"/>
                    <a:pt x="0" y="672681"/>
                    <a:pt x="0" y="629806"/>
                  </a:cubicBezTo>
                  <a:lnTo>
                    <a:pt x="0" y="77631"/>
                  </a:lnTo>
                  <a:cubicBezTo>
                    <a:pt x="0" y="34756"/>
                    <a:pt x="34756" y="0"/>
                    <a:pt x="77631" y="0"/>
                  </a:cubicBezTo>
                  <a:close/>
                </a:path>
              </a:pathLst>
            </a:custGeom>
            <a:solidFill>
              <a:srgbClr val="D1D9E6"/>
            </a:solidFill>
            <a:ln cap="rnd">
              <a:noFill/>
              <a:prstDash val="solid"/>
              <a:round/>
            </a:ln>
          </p:spPr>
        </p:sp>
        <p:sp>
          <p:nvSpPr>
            <p:cNvPr id="8" name="TextBox 8"/>
            <p:cNvSpPr txBox="1"/>
            <p:nvPr/>
          </p:nvSpPr>
          <p:spPr>
            <a:xfrm>
              <a:off x="0" y="76200"/>
              <a:ext cx="1181956" cy="631237"/>
            </a:xfrm>
            <a:prstGeom prst="rect">
              <a:avLst/>
            </a:prstGeom>
          </p:spPr>
          <p:txBody>
            <a:bodyPr lIns="50800" tIns="50800" rIns="50800" bIns="50800" rtlCol="0" anchor="ctr"/>
            <a:lstStyle/>
            <a:p>
              <a:pPr marL="0" lvl="0" indent="0" algn="ctr">
                <a:lnSpc>
                  <a:spcPts val="8359"/>
                </a:lnSpc>
                <a:spcBef>
                  <a:spcPct val="0"/>
                </a:spcBef>
              </a:pPr>
              <a:endParaRPr/>
            </a:p>
          </p:txBody>
        </p:sp>
      </p:grpSp>
      <p:sp>
        <p:nvSpPr>
          <p:cNvPr id="9" name="TextBox 9"/>
          <p:cNvSpPr txBox="1"/>
          <p:nvPr/>
        </p:nvSpPr>
        <p:spPr>
          <a:xfrm>
            <a:off x="7261025" y="4195128"/>
            <a:ext cx="3765949" cy="1077595"/>
          </a:xfrm>
          <a:prstGeom prst="rect">
            <a:avLst/>
          </a:prstGeom>
        </p:spPr>
        <p:txBody>
          <a:bodyPr lIns="0" tIns="0" rIns="0" bIns="0" rtlCol="0" anchor="t">
            <a:spAutoFit/>
          </a:bodyPr>
          <a:lstStyle/>
          <a:p>
            <a:pPr marL="0" lvl="0" indent="0" algn="ctr">
              <a:lnSpc>
                <a:spcPts val="8359"/>
              </a:lnSpc>
            </a:pPr>
            <a:r>
              <a:rPr lang="en-US" sz="7599" b="1" spc="-189">
                <a:solidFill>
                  <a:srgbClr val="87A0C3"/>
                </a:solidFill>
                <a:latin typeface="Garet Bold"/>
                <a:ea typeface="Garet Bold"/>
                <a:cs typeface="Garet Bold"/>
                <a:sym typeface="Garet Bold"/>
              </a:rPr>
              <a:t>25%</a:t>
            </a:r>
          </a:p>
        </p:txBody>
      </p:sp>
      <p:grpSp>
        <p:nvGrpSpPr>
          <p:cNvPr id="10" name="Group 10"/>
          <p:cNvGrpSpPr/>
          <p:nvPr/>
        </p:nvGrpSpPr>
        <p:grpSpPr>
          <a:xfrm>
            <a:off x="12502295" y="3352800"/>
            <a:ext cx="4487740" cy="2686050"/>
            <a:chOff x="0" y="0"/>
            <a:chExt cx="1181956" cy="707437"/>
          </a:xfrm>
        </p:grpSpPr>
        <p:sp>
          <p:nvSpPr>
            <p:cNvPr id="11" name="Freeform 11"/>
            <p:cNvSpPr/>
            <p:nvPr/>
          </p:nvSpPr>
          <p:spPr>
            <a:xfrm>
              <a:off x="0" y="0"/>
              <a:ext cx="1181956" cy="707437"/>
            </a:xfrm>
            <a:custGeom>
              <a:avLst/>
              <a:gdLst/>
              <a:ahLst/>
              <a:cxnLst/>
              <a:rect l="l" t="t" r="r" b="b"/>
              <a:pathLst>
                <a:path w="1181956" h="707437">
                  <a:moveTo>
                    <a:pt x="77631" y="0"/>
                  </a:moveTo>
                  <a:lnTo>
                    <a:pt x="1104326" y="0"/>
                  </a:lnTo>
                  <a:cubicBezTo>
                    <a:pt x="1147200" y="0"/>
                    <a:pt x="1181956" y="34756"/>
                    <a:pt x="1181956" y="77631"/>
                  </a:cubicBezTo>
                  <a:lnTo>
                    <a:pt x="1181956" y="629806"/>
                  </a:lnTo>
                  <a:cubicBezTo>
                    <a:pt x="1181956" y="672681"/>
                    <a:pt x="1147200" y="707437"/>
                    <a:pt x="1104326" y="707437"/>
                  </a:cubicBezTo>
                  <a:lnTo>
                    <a:pt x="77631" y="707437"/>
                  </a:lnTo>
                  <a:cubicBezTo>
                    <a:pt x="34756" y="707437"/>
                    <a:pt x="0" y="672681"/>
                    <a:pt x="0" y="629806"/>
                  </a:cubicBezTo>
                  <a:lnTo>
                    <a:pt x="0" y="77631"/>
                  </a:lnTo>
                  <a:cubicBezTo>
                    <a:pt x="0" y="34756"/>
                    <a:pt x="34756" y="0"/>
                    <a:pt x="77631" y="0"/>
                  </a:cubicBezTo>
                  <a:close/>
                </a:path>
              </a:pathLst>
            </a:custGeom>
            <a:solidFill>
              <a:srgbClr val="D1D9E6"/>
            </a:solidFill>
            <a:ln cap="rnd">
              <a:noFill/>
              <a:prstDash val="solid"/>
              <a:round/>
            </a:ln>
          </p:spPr>
        </p:sp>
        <p:sp>
          <p:nvSpPr>
            <p:cNvPr id="12" name="TextBox 12"/>
            <p:cNvSpPr txBox="1"/>
            <p:nvPr/>
          </p:nvSpPr>
          <p:spPr>
            <a:xfrm>
              <a:off x="0" y="76200"/>
              <a:ext cx="1181956" cy="631237"/>
            </a:xfrm>
            <a:prstGeom prst="rect">
              <a:avLst/>
            </a:prstGeom>
          </p:spPr>
          <p:txBody>
            <a:bodyPr lIns="50800" tIns="50800" rIns="50800" bIns="50800" rtlCol="0" anchor="ctr"/>
            <a:lstStyle/>
            <a:p>
              <a:pPr marL="0" lvl="0" indent="0" algn="ctr">
                <a:lnSpc>
                  <a:spcPts val="8359"/>
                </a:lnSpc>
                <a:spcBef>
                  <a:spcPct val="0"/>
                </a:spcBef>
              </a:pPr>
              <a:endParaRPr/>
            </a:p>
          </p:txBody>
        </p:sp>
      </p:grpSp>
      <p:sp>
        <p:nvSpPr>
          <p:cNvPr id="13" name="TextBox 13"/>
          <p:cNvSpPr txBox="1"/>
          <p:nvPr/>
        </p:nvSpPr>
        <p:spPr>
          <a:xfrm>
            <a:off x="12863191" y="4723765"/>
            <a:ext cx="3765949" cy="1077595"/>
          </a:xfrm>
          <a:prstGeom prst="rect">
            <a:avLst/>
          </a:prstGeom>
        </p:spPr>
        <p:txBody>
          <a:bodyPr lIns="0" tIns="0" rIns="0" bIns="0" rtlCol="0" anchor="t">
            <a:spAutoFit/>
          </a:bodyPr>
          <a:lstStyle/>
          <a:p>
            <a:pPr marL="0" lvl="0" indent="0" algn="ctr">
              <a:lnSpc>
                <a:spcPts val="8359"/>
              </a:lnSpc>
            </a:pPr>
            <a:r>
              <a:rPr lang="en-US" sz="7599" b="1" spc="-189">
                <a:solidFill>
                  <a:srgbClr val="87A0C3"/>
                </a:solidFill>
                <a:latin typeface="Garet Bold"/>
                <a:ea typeface="Garet Bold"/>
                <a:cs typeface="Garet Bold"/>
                <a:sym typeface="Garet Bold"/>
              </a:rPr>
              <a:t>15%</a:t>
            </a:r>
          </a:p>
        </p:txBody>
      </p:sp>
      <p:sp>
        <p:nvSpPr>
          <p:cNvPr id="14" name="TextBox 14"/>
          <p:cNvSpPr txBox="1"/>
          <p:nvPr/>
        </p:nvSpPr>
        <p:spPr>
          <a:xfrm>
            <a:off x="1299430" y="6314757"/>
            <a:ext cx="4487740" cy="481330"/>
          </a:xfrm>
          <a:prstGeom prst="rect">
            <a:avLst/>
          </a:prstGeom>
        </p:spPr>
        <p:txBody>
          <a:bodyPr lIns="0" tIns="0" rIns="0" bIns="0" rtlCol="0" anchor="t">
            <a:spAutoFit/>
          </a:bodyPr>
          <a:lstStyle/>
          <a:p>
            <a:pPr marL="0" lvl="0" indent="0" algn="ctr">
              <a:lnSpc>
                <a:spcPts val="3919"/>
              </a:lnSpc>
              <a:spcBef>
                <a:spcPct val="0"/>
              </a:spcBef>
            </a:pPr>
            <a:r>
              <a:rPr lang="en-US" sz="2799" u="none" strike="noStrike">
                <a:solidFill>
                  <a:srgbClr val="87A0C3"/>
                </a:solidFill>
                <a:latin typeface="Helvetica World"/>
                <a:ea typeface="Helvetica World"/>
                <a:cs typeface="Helvetica World"/>
                <a:sym typeface="Helvetica World"/>
              </a:rPr>
              <a:t>Water Usage Reduction</a:t>
            </a:r>
          </a:p>
        </p:txBody>
      </p:sp>
      <p:sp>
        <p:nvSpPr>
          <p:cNvPr id="15" name="TextBox 15"/>
          <p:cNvSpPr txBox="1"/>
          <p:nvPr/>
        </p:nvSpPr>
        <p:spPr>
          <a:xfrm>
            <a:off x="6900130" y="6314757"/>
            <a:ext cx="4487740" cy="976630"/>
          </a:xfrm>
          <a:prstGeom prst="rect">
            <a:avLst/>
          </a:prstGeom>
        </p:spPr>
        <p:txBody>
          <a:bodyPr lIns="0" tIns="0" rIns="0" bIns="0" rtlCol="0" anchor="t">
            <a:spAutoFit/>
          </a:bodyPr>
          <a:lstStyle/>
          <a:p>
            <a:pPr marL="0" lvl="0" indent="0" algn="ctr">
              <a:lnSpc>
                <a:spcPts val="3919"/>
              </a:lnSpc>
              <a:spcBef>
                <a:spcPct val="0"/>
              </a:spcBef>
            </a:pPr>
            <a:r>
              <a:rPr lang="en-US" sz="2799" u="none" strike="noStrike">
                <a:solidFill>
                  <a:srgbClr val="87A0C3"/>
                </a:solidFill>
                <a:latin typeface="Helvetica World"/>
                <a:ea typeface="Helvetica World"/>
                <a:cs typeface="Helvetica World"/>
                <a:sym typeface="Helvetica World"/>
              </a:rPr>
              <a:t>Irrigation Efficiency Improvement</a:t>
            </a:r>
          </a:p>
        </p:txBody>
      </p:sp>
      <p:sp>
        <p:nvSpPr>
          <p:cNvPr id="16" name="TextBox 16"/>
          <p:cNvSpPr txBox="1"/>
          <p:nvPr/>
        </p:nvSpPr>
        <p:spPr>
          <a:xfrm>
            <a:off x="12771560" y="6314757"/>
            <a:ext cx="4487740" cy="481330"/>
          </a:xfrm>
          <a:prstGeom prst="rect">
            <a:avLst/>
          </a:prstGeom>
        </p:spPr>
        <p:txBody>
          <a:bodyPr lIns="0" tIns="0" rIns="0" bIns="0" rtlCol="0" anchor="t">
            <a:spAutoFit/>
          </a:bodyPr>
          <a:lstStyle/>
          <a:p>
            <a:pPr marL="0" lvl="0" indent="0" algn="ctr">
              <a:lnSpc>
                <a:spcPts val="3919"/>
              </a:lnSpc>
            </a:pPr>
            <a:r>
              <a:rPr lang="en-US" sz="2799">
                <a:solidFill>
                  <a:srgbClr val="87A0C3"/>
                </a:solidFill>
                <a:latin typeface="Helvetica World"/>
                <a:ea typeface="Helvetica World"/>
                <a:cs typeface="Helvetica World"/>
                <a:sym typeface="Helvetica World"/>
              </a:rPr>
              <a:t>Crop Yield Impact</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A3A4A"/>
        </a:solidFill>
        <a:effectLst/>
      </p:bgPr>
    </p:bg>
    <p:spTree>
      <p:nvGrpSpPr>
        <p:cNvPr id="1" name=""/>
        <p:cNvGrpSpPr/>
        <p:nvPr/>
      </p:nvGrpSpPr>
      <p:grpSpPr>
        <a:xfrm>
          <a:off x="0" y="0"/>
          <a:ext cx="0" cy="0"/>
          <a:chOff x="0" y="0"/>
          <a:chExt cx="0" cy="0"/>
        </a:xfrm>
      </p:grpSpPr>
      <p:grpSp>
        <p:nvGrpSpPr>
          <p:cNvPr id="5" name="Group 5"/>
          <p:cNvGrpSpPr/>
          <p:nvPr/>
        </p:nvGrpSpPr>
        <p:grpSpPr>
          <a:xfrm>
            <a:off x="9144000" y="1028700"/>
            <a:ext cx="8278269" cy="8229600"/>
            <a:chOff x="0" y="0"/>
            <a:chExt cx="11037692" cy="10972800"/>
          </a:xfrm>
        </p:grpSpPr>
        <p:sp>
          <p:nvSpPr>
            <p:cNvPr id="6" name="TextBox 6"/>
            <p:cNvSpPr txBox="1"/>
            <p:nvPr/>
          </p:nvSpPr>
          <p:spPr>
            <a:xfrm>
              <a:off x="0" y="76200"/>
              <a:ext cx="11037692" cy="1608986"/>
            </a:xfrm>
            <a:prstGeom prst="rect">
              <a:avLst/>
            </a:prstGeom>
          </p:spPr>
          <p:txBody>
            <a:bodyPr lIns="0" tIns="0" rIns="0" bIns="0" rtlCol="0" anchor="t">
              <a:spAutoFit/>
            </a:bodyPr>
            <a:lstStyle/>
            <a:p>
              <a:pPr marL="0" lvl="0" indent="0" algn="l">
                <a:lnSpc>
                  <a:spcPts val="9131"/>
                </a:lnSpc>
              </a:pPr>
              <a:r>
                <a:rPr lang="en-US" sz="8301" b="1" spc="-207">
                  <a:solidFill>
                    <a:srgbClr val="D1D9E6"/>
                  </a:solidFill>
                  <a:latin typeface="Garet Bold"/>
                  <a:ea typeface="Garet Bold"/>
                  <a:cs typeface="Garet Bold"/>
                  <a:sym typeface="Garet Bold"/>
                </a:rPr>
                <a:t>Conclusion</a:t>
              </a:r>
            </a:p>
          </p:txBody>
        </p:sp>
        <p:sp>
          <p:nvSpPr>
            <p:cNvPr id="7" name="TextBox 7"/>
            <p:cNvSpPr txBox="1"/>
            <p:nvPr/>
          </p:nvSpPr>
          <p:spPr>
            <a:xfrm>
              <a:off x="0" y="2613267"/>
              <a:ext cx="11037692" cy="8359533"/>
            </a:xfrm>
            <a:prstGeom prst="rect">
              <a:avLst/>
            </a:prstGeom>
          </p:spPr>
          <p:txBody>
            <a:bodyPr lIns="0" tIns="0" rIns="0" bIns="0" rtlCol="0" anchor="t">
              <a:spAutoFit/>
            </a:bodyPr>
            <a:lstStyle/>
            <a:p>
              <a:pPr marL="695977" lvl="1" indent="-347989" algn="l">
                <a:lnSpc>
                  <a:spcPts val="4513"/>
                </a:lnSpc>
                <a:buFont typeface="Arial"/>
                <a:buChar char="•"/>
              </a:pPr>
              <a:r>
                <a:rPr lang="en-US" sz="3223">
                  <a:solidFill>
                    <a:srgbClr val="D1D9E6"/>
                  </a:solidFill>
                  <a:latin typeface="Helvetica World"/>
                  <a:ea typeface="Helvetica World"/>
                  <a:cs typeface="Helvetica World"/>
                  <a:sym typeface="Helvetica World"/>
                </a:rPr>
                <a:t>The Smart Irrigation and Water Conservation System provides an intelligent and automated solution for modern agriculture.</a:t>
              </a:r>
            </a:p>
            <a:p>
              <a:pPr marL="695977" lvl="1" indent="-347989" algn="l">
                <a:lnSpc>
                  <a:spcPts val="4513"/>
                </a:lnSpc>
                <a:buFont typeface="Arial"/>
                <a:buChar char="•"/>
              </a:pPr>
              <a:r>
                <a:rPr lang="en-US" sz="3223">
                  <a:solidFill>
                    <a:srgbClr val="D1D9E6"/>
                  </a:solidFill>
                  <a:latin typeface="Helvetica World"/>
                  <a:ea typeface="Helvetica World"/>
                  <a:cs typeface="Helvetica World"/>
                  <a:sym typeface="Helvetica World"/>
                </a:rPr>
                <a:t>It contributes to sustainable water management, energy savings, and enhanced agricultural productivity.</a:t>
              </a:r>
            </a:p>
            <a:p>
              <a:pPr marL="695977" lvl="1" indent="-347989" algn="l">
                <a:lnSpc>
                  <a:spcPts val="4513"/>
                </a:lnSpc>
                <a:buFont typeface="Arial"/>
                <a:buChar char="•"/>
              </a:pPr>
              <a:r>
                <a:rPr lang="en-US" sz="3223">
                  <a:solidFill>
                    <a:srgbClr val="D1D9E6"/>
                  </a:solidFill>
                  <a:latin typeface="Helvetica World"/>
                  <a:ea typeface="Helvetica World"/>
                  <a:cs typeface="Helvetica World"/>
                  <a:sym typeface="Helvetica World"/>
                </a:rPr>
                <a:t>The project demonstrates how technology can support eco-friendly and resource-efficient farming.</a:t>
              </a:r>
            </a:p>
            <a:p>
              <a:pPr algn="l">
                <a:lnSpc>
                  <a:spcPts val="4513"/>
                </a:lnSpc>
              </a:pPr>
              <a:endParaRPr lang="en-US" sz="3223">
                <a:solidFill>
                  <a:srgbClr val="D1D9E6"/>
                </a:solidFill>
                <a:latin typeface="Helvetica World"/>
                <a:ea typeface="Helvetica World"/>
                <a:cs typeface="Helvetica World"/>
                <a:sym typeface="Helvetica World"/>
              </a:endParaRPr>
            </a:p>
          </p:txBody>
        </p:sp>
      </p:grpSp>
      <p:grpSp>
        <p:nvGrpSpPr>
          <p:cNvPr id="8" name="Group 8"/>
          <p:cNvGrpSpPr/>
          <p:nvPr/>
        </p:nvGrpSpPr>
        <p:grpSpPr>
          <a:xfrm>
            <a:off x="609600" y="992402"/>
            <a:ext cx="8302229" cy="8302196"/>
            <a:chOff x="0" y="0"/>
            <a:chExt cx="11069639" cy="11069594"/>
          </a:xfrm>
        </p:grpSpPr>
        <p:grpSp>
          <p:nvGrpSpPr>
            <p:cNvPr id="9" name="Group 9"/>
            <p:cNvGrpSpPr>
              <a:grpSpLocks noChangeAspect="1"/>
            </p:cNvGrpSpPr>
            <p:nvPr/>
          </p:nvGrpSpPr>
          <p:grpSpPr>
            <a:xfrm>
              <a:off x="0" y="0"/>
              <a:ext cx="11069639" cy="11069594"/>
              <a:chOff x="0" y="0"/>
              <a:chExt cx="6350000" cy="6349975"/>
            </a:xfrm>
          </p:grpSpPr>
          <p:sp>
            <p:nvSpPr>
              <p:cNvPr id="10" name="Freeform 1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D1D9E6"/>
              </a:solidFill>
              <a:ln w="12700">
                <a:solidFill>
                  <a:srgbClr val="000000"/>
                </a:solidFill>
              </a:ln>
            </p:spPr>
          </p:sp>
        </p:grpSp>
        <p:grpSp>
          <p:nvGrpSpPr>
            <p:cNvPr id="11" name="Group 11"/>
            <p:cNvGrpSpPr/>
            <p:nvPr/>
          </p:nvGrpSpPr>
          <p:grpSpPr>
            <a:xfrm>
              <a:off x="943769" y="943747"/>
              <a:ext cx="9182100" cy="918210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sp>
        </p:grpSp>
      </p:gr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A3A4A"/>
        </a:solidFill>
        <a:effectLst/>
      </p:bgPr>
    </p:bg>
    <p:spTree>
      <p:nvGrpSpPr>
        <p:cNvPr id="1" name=""/>
        <p:cNvGrpSpPr/>
        <p:nvPr/>
      </p:nvGrpSpPr>
      <p:grpSpPr>
        <a:xfrm>
          <a:off x="0" y="0"/>
          <a:ext cx="0" cy="0"/>
          <a:chOff x="0" y="0"/>
          <a:chExt cx="0" cy="0"/>
        </a:xfrm>
      </p:grpSpPr>
      <p:sp>
        <p:nvSpPr>
          <p:cNvPr id="2" name="TextBox 2"/>
          <p:cNvSpPr txBox="1"/>
          <p:nvPr/>
        </p:nvSpPr>
        <p:spPr>
          <a:xfrm>
            <a:off x="6251615" y="4642803"/>
            <a:ext cx="5784771" cy="1108709"/>
          </a:xfrm>
          <a:prstGeom prst="rect">
            <a:avLst/>
          </a:prstGeom>
        </p:spPr>
        <p:txBody>
          <a:bodyPr lIns="0" tIns="0" rIns="0" bIns="0" rtlCol="0" anchor="t">
            <a:spAutoFit/>
          </a:bodyPr>
          <a:lstStyle/>
          <a:p>
            <a:pPr algn="ctr">
              <a:lnSpc>
                <a:spcPts val="8579"/>
              </a:lnSpc>
              <a:spcBef>
                <a:spcPct val="0"/>
              </a:spcBef>
            </a:pPr>
            <a:r>
              <a:rPr lang="en-US" sz="7799" b="1" spc="-194">
                <a:solidFill>
                  <a:srgbClr val="FFFFFF"/>
                </a:solidFill>
                <a:latin typeface="Garet Bold"/>
                <a:ea typeface="Garet Bold"/>
                <a:cs typeface="Garet Bold"/>
                <a:sym typeface="Garet Bold"/>
              </a:rPr>
              <a:t>Thank You ! </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TotalTime>
  <Words>880</Words>
  <Application>Microsoft Office PowerPoint</Application>
  <PresentationFormat>Custom</PresentationFormat>
  <Paragraphs>84</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Helvetica World Bold</vt:lpstr>
      <vt:lpstr>Helvetica World</vt:lpstr>
      <vt:lpstr>Garet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Smart Irrigation Solutions</dc:title>
  <dc:description>Presentation - Smart Irrigation Solutions</dc:description>
  <cp:lastModifiedBy>Sayantika Banik</cp:lastModifiedBy>
  <cp:revision>4</cp:revision>
  <dcterms:created xsi:type="dcterms:W3CDTF">2006-08-16T00:00:00Z</dcterms:created>
  <dcterms:modified xsi:type="dcterms:W3CDTF">2025-12-05T18:34:16Z</dcterms:modified>
  <dc:identifier>DAG1lZASJHU</dc:identifier>
</cp:coreProperties>
</file>